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 id="2147483696" r:id="rId2"/>
  </p:sldMasterIdLst>
  <p:notesMasterIdLst>
    <p:notesMasterId r:id="rId22"/>
  </p:notesMasterIdLst>
  <p:sldIdLst>
    <p:sldId id="266" r:id="rId3"/>
    <p:sldId id="267" r:id="rId4"/>
    <p:sldId id="277" r:id="rId5"/>
    <p:sldId id="279" r:id="rId6"/>
    <p:sldId id="285" r:id="rId7"/>
    <p:sldId id="289" r:id="rId8"/>
    <p:sldId id="311" r:id="rId9"/>
    <p:sldId id="300" r:id="rId10"/>
    <p:sldId id="301" r:id="rId11"/>
    <p:sldId id="312" r:id="rId12"/>
    <p:sldId id="307" r:id="rId13"/>
    <p:sldId id="291" r:id="rId14"/>
    <p:sldId id="309" r:id="rId15"/>
    <p:sldId id="302" r:id="rId16"/>
    <p:sldId id="310" r:id="rId17"/>
    <p:sldId id="303" r:id="rId18"/>
    <p:sldId id="308" r:id="rId19"/>
    <p:sldId id="287" r:id="rId20"/>
    <p:sldId id="270"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26DE4829-74DC-4C07-922B-4AC142D59F27}">
          <p14:sldIdLst>
            <p14:sldId id="266"/>
            <p14:sldId id="267"/>
            <p14:sldId id="277"/>
            <p14:sldId id="279"/>
          </p14:sldIdLst>
        </p14:section>
        <p14:section name="Untitled Section" id="{960347BC-2B9A-4334-82E8-E2C9EAA5B0D8}">
          <p14:sldIdLst>
            <p14:sldId id="285"/>
            <p14:sldId id="289"/>
            <p14:sldId id="311"/>
            <p14:sldId id="300"/>
            <p14:sldId id="301"/>
          </p14:sldIdLst>
        </p14:section>
        <p14:section name="Untitled Section" id="{1FEFB583-F642-49E3-B57E-22445154BF86}">
          <p14:sldIdLst>
            <p14:sldId id="312"/>
            <p14:sldId id="307"/>
            <p14:sldId id="291"/>
            <p14:sldId id="309"/>
            <p14:sldId id="302"/>
            <p14:sldId id="310"/>
            <p14:sldId id="303"/>
            <p14:sldId id="308"/>
            <p14:sldId id="287"/>
            <p14:sldId id="27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096"/>
    <a:srgbClr val="A234B4"/>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27" autoAdjust="0"/>
    <p:restoredTop sz="94660"/>
  </p:normalViewPr>
  <p:slideViewPr>
    <p:cSldViewPr>
      <p:cViewPr varScale="1">
        <p:scale>
          <a:sx n="78" d="100"/>
          <a:sy n="78" d="100"/>
        </p:scale>
        <p:origin x="143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1960BB-B63F-477F-B820-9F0AECEA6C7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2FA61F7E-D469-4844-B95C-86A3C65D19A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D928971-B785-44F6-ACD8-503FFFA0DAF6}" type="datetimeFigureOut">
              <a:rPr lang="en-IN"/>
              <a:pPr>
                <a:defRPr/>
              </a:pPr>
              <a:t>15-01-2026</a:t>
            </a:fld>
            <a:endParaRPr lang="en-IN"/>
          </a:p>
        </p:txBody>
      </p:sp>
      <p:sp>
        <p:nvSpPr>
          <p:cNvPr id="4" name="Slide Image Placeholder 3">
            <a:extLst>
              <a:ext uri="{FF2B5EF4-FFF2-40B4-BE49-F238E27FC236}">
                <a16:creationId xmlns:a16="http://schemas.microsoft.com/office/drawing/2014/main" id="{5263E772-B801-40B9-A50A-39A5FE4DE77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90158DD1-F9E4-471B-9621-44C6FF45706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1067D28B-0E7A-4325-A465-1FF06716138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DC026FAD-359E-4981-8677-50C78F413C4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D882E26-C3E6-42C8-87EA-538B67D7B510}"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092B427A-433C-C6C1-4B8B-6C24433E0099}"/>
              </a:ext>
            </a:extLst>
          </p:cNvPr>
          <p:cNvSpPr>
            <a:spLocks noGrp="1"/>
          </p:cNvSpPr>
          <p:nvPr>
            <p:ph type="dt" sz="half" idx="10"/>
          </p:nvPr>
        </p:nvSpPr>
        <p:spPr/>
        <p:txBody>
          <a:bodyPr/>
          <a:lstStyle>
            <a:lvl1pPr>
              <a:defRPr/>
            </a:lvl1pPr>
          </a:lstStyle>
          <a:p>
            <a:pPr>
              <a:defRPr/>
            </a:pPr>
            <a:fld id="{F6C3CD5B-A0C1-4B93-9CD9-11BFF4BB7F3D}" type="datetime1">
              <a:rPr lang="en-IN"/>
              <a:pPr>
                <a:defRPr/>
              </a:pPr>
              <a:t>15-01-2026</a:t>
            </a:fld>
            <a:endParaRPr lang="en-US"/>
          </a:p>
        </p:txBody>
      </p:sp>
      <p:sp>
        <p:nvSpPr>
          <p:cNvPr id="5" name="Footer Placeholder 4">
            <a:extLst>
              <a:ext uri="{FF2B5EF4-FFF2-40B4-BE49-F238E27FC236}">
                <a16:creationId xmlns:a16="http://schemas.microsoft.com/office/drawing/2014/main" id="{F096D547-9BE4-C9EA-C879-F7F1A423532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7EA15C-469C-442B-A8DA-94107743ED42}"/>
              </a:ext>
            </a:extLst>
          </p:cNvPr>
          <p:cNvSpPr>
            <a:spLocks noGrp="1"/>
          </p:cNvSpPr>
          <p:nvPr>
            <p:ph type="sldNum" sz="quarter" idx="12"/>
          </p:nvPr>
        </p:nvSpPr>
        <p:spPr/>
        <p:txBody>
          <a:bodyPr/>
          <a:lstStyle>
            <a:lvl1pPr>
              <a:defRPr/>
            </a:lvl1pPr>
          </a:lstStyle>
          <a:p>
            <a:fld id="{2ADE099A-B474-4941-A2F9-49DC3B67C776}" type="slidenum">
              <a:rPr lang="en-US" altLang="en-US"/>
              <a:pPr/>
              <a:t>‹#›</a:t>
            </a:fld>
            <a:endParaRPr lang="en-US" altLang="en-US"/>
          </a:p>
        </p:txBody>
      </p:sp>
    </p:spTree>
    <p:extLst>
      <p:ext uri="{BB962C8B-B14F-4D97-AF65-F5344CB8AC3E}">
        <p14:creationId xmlns:p14="http://schemas.microsoft.com/office/powerpoint/2010/main" val="334736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0234D-4B32-72AE-ABB2-A2DA71622CBB}"/>
              </a:ext>
            </a:extLst>
          </p:cNvPr>
          <p:cNvSpPr>
            <a:spLocks noGrp="1"/>
          </p:cNvSpPr>
          <p:nvPr>
            <p:ph type="dt" sz="half" idx="10"/>
          </p:nvPr>
        </p:nvSpPr>
        <p:spPr/>
        <p:txBody>
          <a:bodyPr/>
          <a:lstStyle>
            <a:lvl1pPr>
              <a:defRPr/>
            </a:lvl1pPr>
          </a:lstStyle>
          <a:p>
            <a:pPr>
              <a:defRPr/>
            </a:pPr>
            <a:fld id="{B209FC38-BBC2-444C-9941-90FF506AEB91}" type="datetime1">
              <a:rPr lang="en-IN"/>
              <a:pPr>
                <a:defRPr/>
              </a:pPr>
              <a:t>15-01-2026</a:t>
            </a:fld>
            <a:endParaRPr lang="en-US"/>
          </a:p>
        </p:txBody>
      </p:sp>
      <p:sp>
        <p:nvSpPr>
          <p:cNvPr id="5" name="Footer Placeholder 4">
            <a:extLst>
              <a:ext uri="{FF2B5EF4-FFF2-40B4-BE49-F238E27FC236}">
                <a16:creationId xmlns:a16="http://schemas.microsoft.com/office/drawing/2014/main" id="{BC2AE617-CEB8-B84E-5F01-3112726F0B8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452DFCB-8683-4E83-880C-599AC076853E}"/>
              </a:ext>
            </a:extLst>
          </p:cNvPr>
          <p:cNvSpPr>
            <a:spLocks noGrp="1"/>
          </p:cNvSpPr>
          <p:nvPr>
            <p:ph type="sldNum" sz="quarter" idx="12"/>
          </p:nvPr>
        </p:nvSpPr>
        <p:spPr/>
        <p:txBody>
          <a:bodyPr/>
          <a:lstStyle>
            <a:lvl1pPr>
              <a:defRPr/>
            </a:lvl1pPr>
          </a:lstStyle>
          <a:p>
            <a:fld id="{3CD2EFEC-03F7-4A1D-A934-8E0B0FFDE98D}" type="slidenum">
              <a:rPr lang="en-US" altLang="en-US"/>
              <a:pPr/>
              <a:t>‹#›</a:t>
            </a:fld>
            <a:endParaRPr lang="en-US" altLang="en-US"/>
          </a:p>
        </p:txBody>
      </p:sp>
    </p:spTree>
    <p:extLst>
      <p:ext uri="{BB962C8B-B14F-4D97-AF65-F5344CB8AC3E}">
        <p14:creationId xmlns:p14="http://schemas.microsoft.com/office/powerpoint/2010/main" val="2570068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66FF00-6BD8-D697-7ED1-3EE5CCB40CCD}"/>
              </a:ext>
            </a:extLst>
          </p:cNvPr>
          <p:cNvSpPr>
            <a:spLocks noGrp="1"/>
          </p:cNvSpPr>
          <p:nvPr>
            <p:ph type="dt" sz="half" idx="10"/>
          </p:nvPr>
        </p:nvSpPr>
        <p:spPr/>
        <p:txBody>
          <a:bodyPr/>
          <a:lstStyle>
            <a:lvl1pPr>
              <a:defRPr/>
            </a:lvl1pPr>
          </a:lstStyle>
          <a:p>
            <a:pPr>
              <a:defRPr/>
            </a:pPr>
            <a:fld id="{4DCC690C-A415-4138-AD99-0C795903E1BD}" type="datetime1">
              <a:rPr lang="en-IN"/>
              <a:pPr>
                <a:defRPr/>
              </a:pPr>
              <a:t>15-01-2026</a:t>
            </a:fld>
            <a:endParaRPr lang="en-US"/>
          </a:p>
        </p:txBody>
      </p:sp>
      <p:sp>
        <p:nvSpPr>
          <p:cNvPr id="5" name="Footer Placeholder 4">
            <a:extLst>
              <a:ext uri="{FF2B5EF4-FFF2-40B4-BE49-F238E27FC236}">
                <a16:creationId xmlns:a16="http://schemas.microsoft.com/office/drawing/2014/main" id="{A04D5AB5-8B41-CA68-0900-556A5F9044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DAD96C7-B902-9C44-3E32-583857A27D15}"/>
              </a:ext>
            </a:extLst>
          </p:cNvPr>
          <p:cNvSpPr>
            <a:spLocks noGrp="1"/>
          </p:cNvSpPr>
          <p:nvPr>
            <p:ph type="sldNum" sz="quarter" idx="12"/>
          </p:nvPr>
        </p:nvSpPr>
        <p:spPr/>
        <p:txBody>
          <a:bodyPr/>
          <a:lstStyle>
            <a:lvl1pPr>
              <a:defRPr/>
            </a:lvl1pPr>
          </a:lstStyle>
          <a:p>
            <a:fld id="{7BC24052-4041-4717-878E-DC23ADD0E1F1}" type="slidenum">
              <a:rPr lang="en-US" altLang="en-US"/>
              <a:pPr/>
              <a:t>‹#›</a:t>
            </a:fld>
            <a:endParaRPr lang="en-US" altLang="en-US"/>
          </a:p>
        </p:txBody>
      </p:sp>
    </p:spTree>
    <p:extLst>
      <p:ext uri="{BB962C8B-B14F-4D97-AF65-F5344CB8AC3E}">
        <p14:creationId xmlns:p14="http://schemas.microsoft.com/office/powerpoint/2010/main" val="422462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7B23CC3-4CC8-FA7B-59EB-052522430C69}"/>
              </a:ext>
            </a:extLst>
          </p:cNvPr>
          <p:cNvSpPr>
            <a:spLocks noGrp="1"/>
          </p:cNvSpPr>
          <p:nvPr>
            <p:ph type="dt" sz="half" idx="10"/>
          </p:nvPr>
        </p:nvSpPr>
        <p:spPr/>
        <p:txBody>
          <a:bodyPr/>
          <a:lstStyle>
            <a:lvl1pPr>
              <a:defRPr/>
            </a:lvl1pPr>
          </a:lstStyle>
          <a:p>
            <a:pPr>
              <a:defRPr/>
            </a:pPr>
            <a:fld id="{72175E0B-F2D8-49C9-9D6C-71E3BEBF69B9}" type="datetime1">
              <a:rPr lang="en-IN"/>
              <a:pPr>
                <a:defRPr/>
              </a:pPr>
              <a:t>15-01-2026</a:t>
            </a:fld>
            <a:endParaRPr lang="en-US"/>
          </a:p>
        </p:txBody>
      </p:sp>
      <p:sp>
        <p:nvSpPr>
          <p:cNvPr id="6" name="Footer Placeholder 4">
            <a:extLst>
              <a:ext uri="{FF2B5EF4-FFF2-40B4-BE49-F238E27FC236}">
                <a16:creationId xmlns:a16="http://schemas.microsoft.com/office/drawing/2014/main" id="{175DDFE0-78AE-0A92-CB36-F6226993DDE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696AF22-5D26-5F18-DD5A-1E2946836FE6}"/>
              </a:ext>
            </a:extLst>
          </p:cNvPr>
          <p:cNvSpPr>
            <a:spLocks noGrp="1"/>
          </p:cNvSpPr>
          <p:nvPr>
            <p:ph type="sldNum" sz="quarter" idx="12"/>
          </p:nvPr>
        </p:nvSpPr>
        <p:spPr/>
        <p:txBody>
          <a:bodyPr/>
          <a:lstStyle>
            <a:lvl1pPr>
              <a:defRPr/>
            </a:lvl1pPr>
          </a:lstStyle>
          <a:p>
            <a:fld id="{223F756F-7504-40D1-A284-9ECB9CF00E7E}" type="slidenum">
              <a:rPr lang="en-US" altLang="en-US"/>
              <a:pPr/>
              <a:t>‹#›</a:t>
            </a:fld>
            <a:endParaRPr lang="en-US" altLang="en-US"/>
          </a:p>
        </p:txBody>
      </p:sp>
    </p:spTree>
    <p:extLst>
      <p:ext uri="{BB962C8B-B14F-4D97-AF65-F5344CB8AC3E}">
        <p14:creationId xmlns:p14="http://schemas.microsoft.com/office/powerpoint/2010/main" val="196753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274E0F84-D86B-C716-72B7-21AC22DAC7B3}"/>
              </a:ext>
            </a:extLst>
          </p:cNvPr>
          <p:cNvSpPr>
            <a:spLocks noGrp="1"/>
          </p:cNvSpPr>
          <p:nvPr>
            <p:ph type="dt" sz="half" idx="10"/>
          </p:nvPr>
        </p:nvSpPr>
        <p:spPr/>
        <p:txBody>
          <a:bodyPr/>
          <a:lstStyle>
            <a:lvl1pPr>
              <a:defRPr/>
            </a:lvl1pPr>
          </a:lstStyle>
          <a:p>
            <a:pPr>
              <a:defRPr/>
            </a:pPr>
            <a:fld id="{DCE0BD71-7D80-49B4-BBC7-B7EF87D717D8}" type="datetime1">
              <a:rPr lang="en-IN"/>
              <a:pPr>
                <a:defRPr/>
              </a:pPr>
              <a:t>15-01-2026</a:t>
            </a:fld>
            <a:endParaRPr lang="en-US"/>
          </a:p>
        </p:txBody>
      </p:sp>
      <p:sp>
        <p:nvSpPr>
          <p:cNvPr id="8" name="Footer Placeholder 4">
            <a:extLst>
              <a:ext uri="{FF2B5EF4-FFF2-40B4-BE49-F238E27FC236}">
                <a16:creationId xmlns:a16="http://schemas.microsoft.com/office/drawing/2014/main" id="{5D4C707D-13D2-122C-427B-8DE453E0BB7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424588FC-2D8F-3788-387A-20866367EA90}"/>
              </a:ext>
            </a:extLst>
          </p:cNvPr>
          <p:cNvSpPr>
            <a:spLocks noGrp="1"/>
          </p:cNvSpPr>
          <p:nvPr>
            <p:ph type="sldNum" sz="quarter" idx="12"/>
          </p:nvPr>
        </p:nvSpPr>
        <p:spPr/>
        <p:txBody>
          <a:bodyPr/>
          <a:lstStyle>
            <a:lvl1pPr>
              <a:defRPr/>
            </a:lvl1pPr>
          </a:lstStyle>
          <a:p>
            <a:fld id="{152726CC-F1A0-4AE2-B075-D77CED66885A}" type="slidenum">
              <a:rPr lang="en-US" altLang="en-US"/>
              <a:pPr/>
              <a:t>‹#›</a:t>
            </a:fld>
            <a:endParaRPr lang="en-US" altLang="en-US"/>
          </a:p>
        </p:txBody>
      </p:sp>
    </p:spTree>
    <p:extLst>
      <p:ext uri="{BB962C8B-B14F-4D97-AF65-F5344CB8AC3E}">
        <p14:creationId xmlns:p14="http://schemas.microsoft.com/office/powerpoint/2010/main" val="180069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9C9ADF6-AF33-53B7-173E-3EC7AD129D55}"/>
              </a:ext>
            </a:extLst>
          </p:cNvPr>
          <p:cNvSpPr>
            <a:spLocks noGrp="1"/>
          </p:cNvSpPr>
          <p:nvPr>
            <p:ph type="dt" sz="half" idx="10"/>
          </p:nvPr>
        </p:nvSpPr>
        <p:spPr/>
        <p:txBody>
          <a:bodyPr/>
          <a:lstStyle>
            <a:lvl1pPr>
              <a:defRPr/>
            </a:lvl1pPr>
          </a:lstStyle>
          <a:p>
            <a:pPr>
              <a:defRPr/>
            </a:pPr>
            <a:fld id="{653F82BB-54A8-41E7-A8AF-29FB66B0D478}" type="datetime1">
              <a:rPr lang="en-IN"/>
              <a:pPr>
                <a:defRPr/>
              </a:pPr>
              <a:t>15-01-2026</a:t>
            </a:fld>
            <a:endParaRPr lang="en-US"/>
          </a:p>
        </p:txBody>
      </p:sp>
      <p:sp>
        <p:nvSpPr>
          <p:cNvPr id="4" name="Footer Placeholder 4">
            <a:extLst>
              <a:ext uri="{FF2B5EF4-FFF2-40B4-BE49-F238E27FC236}">
                <a16:creationId xmlns:a16="http://schemas.microsoft.com/office/drawing/2014/main" id="{53B0D3B8-2BDC-3837-8D1F-AE1E938A7D6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FEDE606-F3BD-DDFE-D231-EBB440D9E745}"/>
              </a:ext>
            </a:extLst>
          </p:cNvPr>
          <p:cNvSpPr>
            <a:spLocks noGrp="1"/>
          </p:cNvSpPr>
          <p:nvPr>
            <p:ph type="sldNum" sz="quarter" idx="12"/>
          </p:nvPr>
        </p:nvSpPr>
        <p:spPr/>
        <p:txBody>
          <a:bodyPr/>
          <a:lstStyle>
            <a:lvl1pPr>
              <a:defRPr/>
            </a:lvl1pPr>
          </a:lstStyle>
          <a:p>
            <a:fld id="{3DC77ACB-A9FF-4482-B16F-950E09EF44B0}" type="slidenum">
              <a:rPr lang="en-US" altLang="en-US"/>
              <a:pPr/>
              <a:t>‹#›</a:t>
            </a:fld>
            <a:endParaRPr lang="en-US" altLang="en-US"/>
          </a:p>
        </p:txBody>
      </p:sp>
    </p:spTree>
    <p:extLst>
      <p:ext uri="{BB962C8B-B14F-4D97-AF65-F5344CB8AC3E}">
        <p14:creationId xmlns:p14="http://schemas.microsoft.com/office/powerpoint/2010/main" val="1299628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376CA22-7345-0DCE-600F-9D07798DA359}"/>
              </a:ext>
            </a:extLst>
          </p:cNvPr>
          <p:cNvSpPr>
            <a:spLocks noGrp="1"/>
          </p:cNvSpPr>
          <p:nvPr>
            <p:ph type="dt" sz="half" idx="10"/>
          </p:nvPr>
        </p:nvSpPr>
        <p:spPr/>
        <p:txBody>
          <a:bodyPr/>
          <a:lstStyle>
            <a:lvl1pPr>
              <a:defRPr/>
            </a:lvl1pPr>
          </a:lstStyle>
          <a:p>
            <a:pPr>
              <a:defRPr/>
            </a:pPr>
            <a:fld id="{37B7EE8B-BE40-4014-9784-FE62C6AE435E}" type="datetime1">
              <a:rPr lang="en-IN"/>
              <a:pPr>
                <a:defRPr/>
              </a:pPr>
              <a:t>15-01-2026</a:t>
            </a:fld>
            <a:endParaRPr lang="en-US"/>
          </a:p>
        </p:txBody>
      </p:sp>
      <p:sp>
        <p:nvSpPr>
          <p:cNvPr id="3" name="Footer Placeholder 4">
            <a:extLst>
              <a:ext uri="{FF2B5EF4-FFF2-40B4-BE49-F238E27FC236}">
                <a16:creationId xmlns:a16="http://schemas.microsoft.com/office/drawing/2014/main" id="{1ED95989-779C-20DC-6B72-627579200BA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CD6571A-EAA1-F774-DE94-817636ACBFBB}"/>
              </a:ext>
            </a:extLst>
          </p:cNvPr>
          <p:cNvSpPr>
            <a:spLocks noGrp="1"/>
          </p:cNvSpPr>
          <p:nvPr>
            <p:ph type="sldNum" sz="quarter" idx="12"/>
          </p:nvPr>
        </p:nvSpPr>
        <p:spPr/>
        <p:txBody>
          <a:bodyPr/>
          <a:lstStyle>
            <a:lvl1pPr>
              <a:defRPr/>
            </a:lvl1pPr>
          </a:lstStyle>
          <a:p>
            <a:fld id="{B1068B5D-76B0-49FF-8988-1F8656E8F1DE}" type="slidenum">
              <a:rPr lang="en-US" altLang="en-US"/>
              <a:pPr/>
              <a:t>‹#›</a:t>
            </a:fld>
            <a:endParaRPr lang="en-US" altLang="en-US"/>
          </a:p>
        </p:txBody>
      </p:sp>
    </p:spTree>
    <p:extLst>
      <p:ext uri="{BB962C8B-B14F-4D97-AF65-F5344CB8AC3E}">
        <p14:creationId xmlns:p14="http://schemas.microsoft.com/office/powerpoint/2010/main" val="176191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E5FD3B4-F77C-F0A3-64D5-C83176A837B9}"/>
              </a:ext>
            </a:extLst>
          </p:cNvPr>
          <p:cNvSpPr>
            <a:spLocks noGrp="1"/>
          </p:cNvSpPr>
          <p:nvPr>
            <p:ph type="dt" sz="half" idx="10"/>
          </p:nvPr>
        </p:nvSpPr>
        <p:spPr/>
        <p:txBody>
          <a:bodyPr/>
          <a:lstStyle>
            <a:lvl1pPr>
              <a:defRPr/>
            </a:lvl1pPr>
          </a:lstStyle>
          <a:p>
            <a:pPr>
              <a:defRPr/>
            </a:pPr>
            <a:fld id="{114952E0-3B05-4A7A-B9E2-D04371E9394D}" type="datetime1">
              <a:rPr lang="en-IN"/>
              <a:pPr>
                <a:defRPr/>
              </a:pPr>
              <a:t>15-01-2026</a:t>
            </a:fld>
            <a:endParaRPr lang="en-US"/>
          </a:p>
        </p:txBody>
      </p:sp>
      <p:sp>
        <p:nvSpPr>
          <p:cNvPr id="6" name="Footer Placeholder 4">
            <a:extLst>
              <a:ext uri="{FF2B5EF4-FFF2-40B4-BE49-F238E27FC236}">
                <a16:creationId xmlns:a16="http://schemas.microsoft.com/office/drawing/2014/main" id="{DCBA8293-4CED-A934-9372-64232E4D21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1B44F2D-9212-FC49-1E52-144F33D31F1C}"/>
              </a:ext>
            </a:extLst>
          </p:cNvPr>
          <p:cNvSpPr>
            <a:spLocks noGrp="1"/>
          </p:cNvSpPr>
          <p:nvPr>
            <p:ph type="sldNum" sz="quarter" idx="12"/>
          </p:nvPr>
        </p:nvSpPr>
        <p:spPr/>
        <p:txBody>
          <a:bodyPr/>
          <a:lstStyle>
            <a:lvl1pPr>
              <a:defRPr/>
            </a:lvl1pPr>
          </a:lstStyle>
          <a:p>
            <a:fld id="{07B71C7A-ECBD-4DA5-9C07-8C1512DABB48}" type="slidenum">
              <a:rPr lang="en-US" altLang="en-US"/>
              <a:pPr/>
              <a:t>‹#›</a:t>
            </a:fld>
            <a:endParaRPr lang="en-US" altLang="en-US"/>
          </a:p>
        </p:txBody>
      </p:sp>
    </p:spTree>
    <p:extLst>
      <p:ext uri="{BB962C8B-B14F-4D97-AF65-F5344CB8AC3E}">
        <p14:creationId xmlns:p14="http://schemas.microsoft.com/office/powerpoint/2010/main" val="365286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298F9E7-FD48-ACF8-97A5-DC40CB745937}"/>
              </a:ext>
            </a:extLst>
          </p:cNvPr>
          <p:cNvSpPr>
            <a:spLocks noGrp="1"/>
          </p:cNvSpPr>
          <p:nvPr>
            <p:ph type="dt" sz="half" idx="10"/>
          </p:nvPr>
        </p:nvSpPr>
        <p:spPr/>
        <p:txBody>
          <a:bodyPr/>
          <a:lstStyle>
            <a:lvl1pPr>
              <a:defRPr/>
            </a:lvl1pPr>
          </a:lstStyle>
          <a:p>
            <a:pPr>
              <a:defRPr/>
            </a:pPr>
            <a:fld id="{8431853A-B71A-49EF-9EC8-3FD455CA5AE2}" type="datetime1">
              <a:rPr lang="en-IN"/>
              <a:pPr>
                <a:defRPr/>
              </a:pPr>
              <a:t>15-01-2026</a:t>
            </a:fld>
            <a:endParaRPr lang="en-US"/>
          </a:p>
        </p:txBody>
      </p:sp>
      <p:sp>
        <p:nvSpPr>
          <p:cNvPr id="6" name="Footer Placeholder 4">
            <a:extLst>
              <a:ext uri="{FF2B5EF4-FFF2-40B4-BE49-F238E27FC236}">
                <a16:creationId xmlns:a16="http://schemas.microsoft.com/office/drawing/2014/main" id="{094AEA4B-C8FD-5F62-3C0C-821C6CA1AAC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A856F5-A583-9ED9-F0F6-FAA747F03356}"/>
              </a:ext>
            </a:extLst>
          </p:cNvPr>
          <p:cNvSpPr>
            <a:spLocks noGrp="1"/>
          </p:cNvSpPr>
          <p:nvPr>
            <p:ph type="sldNum" sz="quarter" idx="12"/>
          </p:nvPr>
        </p:nvSpPr>
        <p:spPr/>
        <p:txBody>
          <a:bodyPr/>
          <a:lstStyle>
            <a:lvl1pPr>
              <a:defRPr/>
            </a:lvl1pPr>
          </a:lstStyle>
          <a:p>
            <a:fld id="{BC828192-7C0D-48FE-9398-A4BCC322D728}" type="slidenum">
              <a:rPr lang="en-US" altLang="en-US"/>
              <a:pPr/>
              <a:t>‹#›</a:t>
            </a:fld>
            <a:endParaRPr lang="en-US" altLang="en-US"/>
          </a:p>
        </p:txBody>
      </p:sp>
    </p:spTree>
    <p:extLst>
      <p:ext uri="{BB962C8B-B14F-4D97-AF65-F5344CB8AC3E}">
        <p14:creationId xmlns:p14="http://schemas.microsoft.com/office/powerpoint/2010/main" val="3306969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C6F0DA-EDD8-AFB7-3C04-605EA3642435}"/>
              </a:ext>
            </a:extLst>
          </p:cNvPr>
          <p:cNvSpPr>
            <a:spLocks noGrp="1"/>
          </p:cNvSpPr>
          <p:nvPr>
            <p:ph type="dt" sz="half" idx="10"/>
          </p:nvPr>
        </p:nvSpPr>
        <p:spPr/>
        <p:txBody>
          <a:bodyPr/>
          <a:lstStyle>
            <a:lvl1pPr>
              <a:defRPr/>
            </a:lvl1pPr>
          </a:lstStyle>
          <a:p>
            <a:pPr>
              <a:defRPr/>
            </a:pPr>
            <a:fld id="{A1171331-E9ED-4DC5-BE7E-72E3D3950CE4}" type="datetime1">
              <a:rPr lang="en-IN"/>
              <a:pPr>
                <a:defRPr/>
              </a:pPr>
              <a:t>15-01-2026</a:t>
            </a:fld>
            <a:endParaRPr lang="en-US"/>
          </a:p>
        </p:txBody>
      </p:sp>
      <p:sp>
        <p:nvSpPr>
          <p:cNvPr id="5" name="Footer Placeholder 4">
            <a:extLst>
              <a:ext uri="{FF2B5EF4-FFF2-40B4-BE49-F238E27FC236}">
                <a16:creationId xmlns:a16="http://schemas.microsoft.com/office/drawing/2014/main" id="{7CE5577E-C0A3-0ABF-4C6B-58FE72AB0A0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D8EB520-6AC7-9053-89A7-D486E043C563}"/>
              </a:ext>
            </a:extLst>
          </p:cNvPr>
          <p:cNvSpPr>
            <a:spLocks noGrp="1"/>
          </p:cNvSpPr>
          <p:nvPr>
            <p:ph type="sldNum" sz="quarter" idx="12"/>
          </p:nvPr>
        </p:nvSpPr>
        <p:spPr/>
        <p:txBody>
          <a:bodyPr/>
          <a:lstStyle>
            <a:lvl1pPr>
              <a:defRPr/>
            </a:lvl1pPr>
          </a:lstStyle>
          <a:p>
            <a:fld id="{F28199BA-223E-4D77-B9C1-4F581AFECBDF}" type="slidenum">
              <a:rPr lang="en-US" altLang="en-US"/>
              <a:pPr/>
              <a:t>‹#›</a:t>
            </a:fld>
            <a:endParaRPr lang="en-US" altLang="en-US"/>
          </a:p>
        </p:txBody>
      </p:sp>
    </p:spTree>
    <p:extLst>
      <p:ext uri="{BB962C8B-B14F-4D97-AF65-F5344CB8AC3E}">
        <p14:creationId xmlns:p14="http://schemas.microsoft.com/office/powerpoint/2010/main" val="1330744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932B46-8A58-832C-B7CB-0F0C3591EDE1}"/>
              </a:ext>
            </a:extLst>
          </p:cNvPr>
          <p:cNvSpPr>
            <a:spLocks noGrp="1"/>
          </p:cNvSpPr>
          <p:nvPr>
            <p:ph type="dt" sz="half" idx="10"/>
          </p:nvPr>
        </p:nvSpPr>
        <p:spPr/>
        <p:txBody>
          <a:bodyPr/>
          <a:lstStyle>
            <a:lvl1pPr>
              <a:defRPr/>
            </a:lvl1pPr>
          </a:lstStyle>
          <a:p>
            <a:pPr>
              <a:defRPr/>
            </a:pPr>
            <a:fld id="{8D2FA301-DF90-41AD-9F9E-03F1706575FD}" type="datetime1">
              <a:rPr lang="en-IN"/>
              <a:pPr>
                <a:defRPr/>
              </a:pPr>
              <a:t>15-01-2026</a:t>
            </a:fld>
            <a:endParaRPr lang="en-US"/>
          </a:p>
        </p:txBody>
      </p:sp>
      <p:sp>
        <p:nvSpPr>
          <p:cNvPr id="5" name="Footer Placeholder 4">
            <a:extLst>
              <a:ext uri="{FF2B5EF4-FFF2-40B4-BE49-F238E27FC236}">
                <a16:creationId xmlns:a16="http://schemas.microsoft.com/office/drawing/2014/main" id="{427210DD-AC05-A9B0-5DB6-3CD5CBF3142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BB4B6BE-F8EA-AE67-987A-927359C9021B}"/>
              </a:ext>
            </a:extLst>
          </p:cNvPr>
          <p:cNvSpPr>
            <a:spLocks noGrp="1"/>
          </p:cNvSpPr>
          <p:nvPr>
            <p:ph type="sldNum" sz="quarter" idx="12"/>
          </p:nvPr>
        </p:nvSpPr>
        <p:spPr/>
        <p:txBody>
          <a:bodyPr/>
          <a:lstStyle>
            <a:lvl1pPr>
              <a:defRPr/>
            </a:lvl1pPr>
          </a:lstStyle>
          <a:p>
            <a:fld id="{DD81B658-C690-4E72-B9EE-A81B2817EA61}" type="slidenum">
              <a:rPr lang="en-US" altLang="en-US"/>
              <a:pPr/>
              <a:t>‹#›</a:t>
            </a:fld>
            <a:endParaRPr lang="en-US" altLang="en-US"/>
          </a:p>
        </p:txBody>
      </p:sp>
    </p:spTree>
    <p:extLst>
      <p:ext uri="{BB962C8B-B14F-4D97-AF65-F5344CB8AC3E}">
        <p14:creationId xmlns:p14="http://schemas.microsoft.com/office/powerpoint/2010/main" val="1762933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635737FB-ECBE-024A-D924-D2B25DE38944}"/>
              </a:ext>
            </a:extLst>
          </p:cNvPr>
          <p:cNvSpPr>
            <a:spLocks noGrp="1"/>
          </p:cNvSpPr>
          <p:nvPr>
            <p:ph type="dt" sz="half" idx="10"/>
          </p:nvPr>
        </p:nvSpPr>
        <p:spPr/>
        <p:txBody>
          <a:bodyPr/>
          <a:lstStyle>
            <a:lvl1pPr>
              <a:defRPr/>
            </a:lvl1pPr>
          </a:lstStyle>
          <a:p>
            <a:pPr>
              <a:defRPr/>
            </a:pPr>
            <a:fld id="{CFAD5AFA-4061-4A22-96E7-BEECA65FE5E1}" type="datetime1">
              <a:rPr lang="en-IN"/>
              <a:pPr>
                <a:defRPr/>
              </a:pPr>
              <a:t>15-01-2026</a:t>
            </a:fld>
            <a:endParaRPr lang="en-US"/>
          </a:p>
        </p:txBody>
      </p:sp>
      <p:sp>
        <p:nvSpPr>
          <p:cNvPr id="5" name="Footer Placeholder 4">
            <a:extLst>
              <a:ext uri="{FF2B5EF4-FFF2-40B4-BE49-F238E27FC236}">
                <a16:creationId xmlns:a16="http://schemas.microsoft.com/office/drawing/2014/main" id="{CD6F0D85-E40D-29FF-D11B-5BBDF75A403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6DDD85E-C1D2-7D8E-8524-46AA485FF535}"/>
              </a:ext>
            </a:extLst>
          </p:cNvPr>
          <p:cNvSpPr>
            <a:spLocks noGrp="1"/>
          </p:cNvSpPr>
          <p:nvPr>
            <p:ph type="sldNum" sz="quarter" idx="12"/>
          </p:nvPr>
        </p:nvSpPr>
        <p:spPr/>
        <p:txBody>
          <a:bodyPr/>
          <a:lstStyle>
            <a:lvl1pPr>
              <a:defRPr/>
            </a:lvl1pPr>
          </a:lstStyle>
          <a:p>
            <a:fld id="{7D2ABF0A-C2F8-468D-9BEF-1E5B47DB56F3}" type="slidenum">
              <a:rPr lang="en-US" altLang="en-US"/>
              <a:pPr/>
              <a:t>‹#›</a:t>
            </a:fld>
            <a:endParaRPr lang="en-US" altLang="en-US"/>
          </a:p>
        </p:txBody>
      </p:sp>
    </p:spTree>
    <p:extLst>
      <p:ext uri="{BB962C8B-B14F-4D97-AF65-F5344CB8AC3E}">
        <p14:creationId xmlns:p14="http://schemas.microsoft.com/office/powerpoint/2010/main" val="1093087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14BD91-AC8D-0534-8F77-FD0996FD5F95}"/>
              </a:ext>
            </a:extLst>
          </p:cNvPr>
          <p:cNvSpPr>
            <a:spLocks noGrp="1"/>
          </p:cNvSpPr>
          <p:nvPr>
            <p:ph type="dt" sz="half" idx="10"/>
          </p:nvPr>
        </p:nvSpPr>
        <p:spPr/>
        <p:txBody>
          <a:bodyPr/>
          <a:lstStyle>
            <a:lvl1pPr>
              <a:defRPr/>
            </a:lvl1pPr>
          </a:lstStyle>
          <a:p>
            <a:pPr>
              <a:defRPr/>
            </a:pPr>
            <a:fld id="{505298E4-25E6-44BD-B355-A3A38F8FC562}" type="datetime1">
              <a:rPr lang="en-IN"/>
              <a:pPr>
                <a:defRPr/>
              </a:pPr>
              <a:t>15-01-2026</a:t>
            </a:fld>
            <a:endParaRPr lang="en-US"/>
          </a:p>
        </p:txBody>
      </p:sp>
      <p:sp>
        <p:nvSpPr>
          <p:cNvPr id="5" name="Footer Placeholder 4">
            <a:extLst>
              <a:ext uri="{FF2B5EF4-FFF2-40B4-BE49-F238E27FC236}">
                <a16:creationId xmlns:a16="http://schemas.microsoft.com/office/drawing/2014/main" id="{D71B8D69-605B-AE7E-10CA-D93DA3D075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317C59-6358-D0EF-8C37-A6A635C2B644}"/>
              </a:ext>
            </a:extLst>
          </p:cNvPr>
          <p:cNvSpPr>
            <a:spLocks noGrp="1"/>
          </p:cNvSpPr>
          <p:nvPr>
            <p:ph type="sldNum" sz="quarter" idx="12"/>
          </p:nvPr>
        </p:nvSpPr>
        <p:spPr/>
        <p:txBody>
          <a:bodyPr/>
          <a:lstStyle>
            <a:lvl1pPr>
              <a:defRPr/>
            </a:lvl1pPr>
          </a:lstStyle>
          <a:p>
            <a:fld id="{94324620-C916-4088-9061-BBE075F8EA03}" type="slidenum">
              <a:rPr lang="en-US" altLang="en-US"/>
              <a:pPr/>
              <a:t>‹#›</a:t>
            </a:fld>
            <a:endParaRPr lang="en-US" altLang="en-US"/>
          </a:p>
        </p:txBody>
      </p:sp>
    </p:spTree>
    <p:extLst>
      <p:ext uri="{BB962C8B-B14F-4D97-AF65-F5344CB8AC3E}">
        <p14:creationId xmlns:p14="http://schemas.microsoft.com/office/powerpoint/2010/main" val="151163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D9DA2-11FC-2EFF-684A-DE4835D013B3}"/>
              </a:ext>
            </a:extLst>
          </p:cNvPr>
          <p:cNvSpPr>
            <a:spLocks noGrp="1"/>
          </p:cNvSpPr>
          <p:nvPr>
            <p:ph type="dt" sz="half" idx="10"/>
          </p:nvPr>
        </p:nvSpPr>
        <p:spPr/>
        <p:txBody>
          <a:bodyPr/>
          <a:lstStyle>
            <a:lvl1pPr>
              <a:defRPr/>
            </a:lvl1pPr>
          </a:lstStyle>
          <a:p>
            <a:pPr>
              <a:defRPr/>
            </a:pPr>
            <a:fld id="{14FD230E-B566-4ECD-9732-88CEFF42DD1E}" type="datetime1">
              <a:rPr lang="en-IN"/>
              <a:pPr>
                <a:defRPr/>
              </a:pPr>
              <a:t>15-01-2026</a:t>
            </a:fld>
            <a:endParaRPr lang="en-US"/>
          </a:p>
        </p:txBody>
      </p:sp>
      <p:sp>
        <p:nvSpPr>
          <p:cNvPr id="5" name="Footer Placeholder 4">
            <a:extLst>
              <a:ext uri="{FF2B5EF4-FFF2-40B4-BE49-F238E27FC236}">
                <a16:creationId xmlns:a16="http://schemas.microsoft.com/office/drawing/2014/main" id="{A0EFA328-1067-4234-D9DD-E4662C13B3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5FFD445-B925-E1C8-308E-EEE365364F2F}"/>
              </a:ext>
            </a:extLst>
          </p:cNvPr>
          <p:cNvSpPr>
            <a:spLocks noGrp="1"/>
          </p:cNvSpPr>
          <p:nvPr>
            <p:ph type="sldNum" sz="quarter" idx="12"/>
          </p:nvPr>
        </p:nvSpPr>
        <p:spPr/>
        <p:txBody>
          <a:bodyPr/>
          <a:lstStyle>
            <a:lvl1pPr>
              <a:defRPr/>
            </a:lvl1pPr>
          </a:lstStyle>
          <a:p>
            <a:fld id="{F1F99AD8-C45C-40BA-A51A-F9AD65AFE13F}" type="slidenum">
              <a:rPr lang="en-US" altLang="en-US"/>
              <a:pPr/>
              <a:t>‹#›</a:t>
            </a:fld>
            <a:endParaRPr lang="en-US" altLang="en-US"/>
          </a:p>
        </p:txBody>
      </p:sp>
    </p:spTree>
    <p:extLst>
      <p:ext uri="{BB962C8B-B14F-4D97-AF65-F5344CB8AC3E}">
        <p14:creationId xmlns:p14="http://schemas.microsoft.com/office/powerpoint/2010/main" val="4059645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99663FD-7186-37B8-740A-312A087FC4FD}"/>
              </a:ext>
            </a:extLst>
          </p:cNvPr>
          <p:cNvSpPr>
            <a:spLocks noGrp="1"/>
          </p:cNvSpPr>
          <p:nvPr>
            <p:ph type="dt" sz="half" idx="10"/>
          </p:nvPr>
        </p:nvSpPr>
        <p:spPr/>
        <p:txBody>
          <a:bodyPr/>
          <a:lstStyle>
            <a:lvl1pPr>
              <a:defRPr/>
            </a:lvl1pPr>
          </a:lstStyle>
          <a:p>
            <a:pPr>
              <a:defRPr/>
            </a:pPr>
            <a:fld id="{5A1A7964-E53F-48FF-8806-FEF2116F30C9}" type="datetime1">
              <a:rPr lang="en-IN"/>
              <a:pPr>
                <a:defRPr/>
              </a:pPr>
              <a:t>15-01-2026</a:t>
            </a:fld>
            <a:endParaRPr lang="en-US"/>
          </a:p>
        </p:txBody>
      </p:sp>
      <p:sp>
        <p:nvSpPr>
          <p:cNvPr id="6" name="Footer Placeholder 4">
            <a:extLst>
              <a:ext uri="{FF2B5EF4-FFF2-40B4-BE49-F238E27FC236}">
                <a16:creationId xmlns:a16="http://schemas.microsoft.com/office/drawing/2014/main" id="{24675130-EB07-97F5-DC63-7A7E83F354C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7A758A1-0F18-97B4-F7B8-B32EE06600D8}"/>
              </a:ext>
            </a:extLst>
          </p:cNvPr>
          <p:cNvSpPr>
            <a:spLocks noGrp="1"/>
          </p:cNvSpPr>
          <p:nvPr>
            <p:ph type="sldNum" sz="quarter" idx="12"/>
          </p:nvPr>
        </p:nvSpPr>
        <p:spPr/>
        <p:txBody>
          <a:bodyPr/>
          <a:lstStyle>
            <a:lvl1pPr>
              <a:defRPr/>
            </a:lvl1pPr>
          </a:lstStyle>
          <a:p>
            <a:fld id="{EFD9BF62-C267-4607-A267-BA621D7535CA}" type="slidenum">
              <a:rPr lang="en-US" altLang="en-US"/>
              <a:pPr/>
              <a:t>‹#›</a:t>
            </a:fld>
            <a:endParaRPr lang="en-US" altLang="en-US"/>
          </a:p>
        </p:txBody>
      </p:sp>
    </p:spTree>
    <p:extLst>
      <p:ext uri="{BB962C8B-B14F-4D97-AF65-F5344CB8AC3E}">
        <p14:creationId xmlns:p14="http://schemas.microsoft.com/office/powerpoint/2010/main" val="1782153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307E827-11B4-B276-6D78-786BDD7CA689}"/>
              </a:ext>
            </a:extLst>
          </p:cNvPr>
          <p:cNvSpPr>
            <a:spLocks noGrp="1"/>
          </p:cNvSpPr>
          <p:nvPr>
            <p:ph type="dt" sz="half" idx="10"/>
          </p:nvPr>
        </p:nvSpPr>
        <p:spPr/>
        <p:txBody>
          <a:bodyPr/>
          <a:lstStyle>
            <a:lvl1pPr>
              <a:defRPr/>
            </a:lvl1pPr>
          </a:lstStyle>
          <a:p>
            <a:pPr>
              <a:defRPr/>
            </a:pPr>
            <a:fld id="{8A02ADB6-B91C-4666-978D-B4C6D8CA7731}" type="datetime1">
              <a:rPr lang="en-IN"/>
              <a:pPr>
                <a:defRPr/>
              </a:pPr>
              <a:t>15-01-2026</a:t>
            </a:fld>
            <a:endParaRPr lang="en-US"/>
          </a:p>
        </p:txBody>
      </p:sp>
      <p:sp>
        <p:nvSpPr>
          <p:cNvPr id="8" name="Footer Placeholder 4">
            <a:extLst>
              <a:ext uri="{FF2B5EF4-FFF2-40B4-BE49-F238E27FC236}">
                <a16:creationId xmlns:a16="http://schemas.microsoft.com/office/drawing/2014/main" id="{1275A997-F60B-46F4-13BE-A0FE04891627}"/>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90652B8-EC39-DD55-A4F1-F65E8F3794F6}"/>
              </a:ext>
            </a:extLst>
          </p:cNvPr>
          <p:cNvSpPr>
            <a:spLocks noGrp="1"/>
          </p:cNvSpPr>
          <p:nvPr>
            <p:ph type="sldNum" sz="quarter" idx="12"/>
          </p:nvPr>
        </p:nvSpPr>
        <p:spPr/>
        <p:txBody>
          <a:bodyPr/>
          <a:lstStyle>
            <a:lvl1pPr>
              <a:defRPr/>
            </a:lvl1pPr>
          </a:lstStyle>
          <a:p>
            <a:fld id="{41A01790-D970-48A7-A6F9-7BBC3C7007F8}" type="slidenum">
              <a:rPr lang="en-US" altLang="en-US"/>
              <a:pPr/>
              <a:t>‹#›</a:t>
            </a:fld>
            <a:endParaRPr lang="en-US" altLang="en-US"/>
          </a:p>
        </p:txBody>
      </p:sp>
    </p:spTree>
    <p:extLst>
      <p:ext uri="{BB962C8B-B14F-4D97-AF65-F5344CB8AC3E}">
        <p14:creationId xmlns:p14="http://schemas.microsoft.com/office/powerpoint/2010/main" val="3698720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A9D137A-C9F6-7E1A-789D-47F935A4253C}"/>
              </a:ext>
            </a:extLst>
          </p:cNvPr>
          <p:cNvSpPr>
            <a:spLocks noGrp="1"/>
          </p:cNvSpPr>
          <p:nvPr>
            <p:ph type="dt" sz="half" idx="10"/>
          </p:nvPr>
        </p:nvSpPr>
        <p:spPr/>
        <p:txBody>
          <a:bodyPr/>
          <a:lstStyle>
            <a:lvl1pPr>
              <a:defRPr/>
            </a:lvl1pPr>
          </a:lstStyle>
          <a:p>
            <a:pPr>
              <a:defRPr/>
            </a:pPr>
            <a:fld id="{AC27DE00-8967-4EAB-BAA5-3713CCF6BEFC}" type="datetime1">
              <a:rPr lang="en-IN"/>
              <a:pPr>
                <a:defRPr/>
              </a:pPr>
              <a:t>15-01-2026</a:t>
            </a:fld>
            <a:endParaRPr lang="en-US"/>
          </a:p>
        </p:txBody>
      </p:sp>
      <p:sp>
        <p:nvSpPr>
          <p:cNvPr id="4" name="Footer Placeholder 4">
            <a:extLst>
              <a:ext uri="{FF2B5EF4-FFF2-40B4-BE49-F238E27FC236}">
                <a16:creationId xmlns:a16="http://schemas.microsoft.com/office/drawing/2014/main" id="{4A599B20-4238-12B6-CF8B-E32FF0FCE7A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6838FDB-699A-E9BF-0D52-98D3746A153D}"/>
              </a:ext>
            </a:extLst>
          </p:cNvPr>
          <p:cNvSpPr>
            <a:spLocks noGrp="1"/>
          </p:cNvSpPr>
          <p:nvPr>
            <p:ph type="sldNum" sz="quarter" idx="12"/>
          </p:nvPr>
        </p:nvSpPr>
        <p:spPr/>
        <p:txBody>
          <a:bodyPr/>
          <a:lstStyle>
            <a:lvl1pPr>
              <a:defRPr/>
            </a:lvl1pPr>
          </a:lstStyle>
          <a:p>
            <a:fld id="{2FEC9CB9-4B11-4F00-BCC1-1C8448CA1C30}" type="slidenum">
              <a:rPr lang="en-US" altLang="en-US"/>
              <a:pPr/>
              <a:t>‹#›</a:t>
            </a:fld>
            <a:endParaRPr lang="en-US" altLang="en-US"/>
          </a:p>
        </p:txBody>
      </p:sp>
    </p:spTree>
    <p:extLst>
      <p:ext uri="{BB962C8B-B14F-4D97-AF65-F5344CB8AC3E}">
        <p14:creationId xmlns:p14="http://schemas.microsoft.com/office/powerpoint/2010/main" val="38227045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5743844-F97D-B516-43B1-3CD26290D64A}"/>
              </a:ext>
            </a:extLst>
          </p:cNvPr>
          <p:cNvSpPr>
            <a:spLocks noGrp="1"/>
          </p:cNvSpPr>
          <p:nvPr>
            <p:ph type="dt" sz="half" idx="10"/>
          </p:nvPr>
        </p:nvSpPr>
        <p:spPr/>
        <p:txBody>
          <a:bodyPr/>
          <a:lstStyle>
            <a:lvl1pPr>
              <a:defRPr/>
            </a:lvl1pPr>
          </a:lstStyle>
          <a:p>
            <a:pPr>
              <a:defRPr/>
            </a:pPr>
            <a:fld id="{F39CBEB0-320E-4018-9657-38C245EA46BD}" type="datetime1">
              <a:rPr lang="en-IN"/>
              <a:pPr>
                <a:defRPr/>
              </a:pPr>
              <a:t>15-01-2026</a:t>
            </a:fld>
            <a:endParaRPr lang="en-US"/>
          </a:p>
        </p:txBody>
      </p:sp>
      <p:sp>
        <p:nvSpPr>
          <p:cNvPr id="3" name="Footer Placeholder 4">
            <a:extLst>
              <a:ext uri="{FF2B5EF4-FFF2-40B4-BE49-F238E27FC236}">
                <a16:creationId xmlns:a16="http://schemas.microsoft.com/office/drawing/2014/main" id="{65527B11-3B74-01B3-AB40-B5EA3251EFD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5615B22-EF4F-3D1E-E7C3-D14601A74EC9}"/>
              </a:ext>
            </a:extLst>
          </p:cNvPr>
          <p:cNvSpPr>
            <a:spLocks noGrp="1"/>
          </p:cNvSpPr>
          <p:nvPr>
            <p:ph type="sldNum" sz="quarter" idx="12"/>
          </p:nvPr>
        </p:nvSpPr>
        <p:spPr/>
        <p:txBody>
          <a:bodyPr/>
          <a:lstStyle>
            <a:lvl1pPr>
              <a:defRPr/>
            </a:lvl1pPr>
          </a:lstStyle>
          <a:p>
            <a:fld id="{3DBC4177-F866-4031-B14D-910AC0FE9D76}" type="slidenum">
              <a:rPr lang="en-US" altLang="en-US"/>
              <a:pPr/>
              <a:t>‹#›</a:t>
            </a:fld>
            <a:endParaRPr lang="en-US" altLang="en-US"/>
          </a:p>
        </p:txBody>
      </p:sp>
    </p:spTree>
    <p:extLst>
      <p:ext uri="{BB962C8B-B14F-4D97-AF65-F5344CB8AC3E}">
        <p14:creationId xmlns:p14="http://schemas.microsoft.com/office/powerpoint/2010/main" val="350198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7327055-160E-E7B4-A22F-466E52D2BC79}"/>
              </a:ext>
            </a:extLst>
          </p:cNvPr>
          <p:cNvSpPr>
            <a:spLocks noGrp="1"/>
          </p:cNvSpPr>
          <p:nvPr>
            <p:ph type="dt" sz="half" idx="10"/>
          </p:nvPr>
        </p:nvSpPr>
        <p:spPr/>
        <p:txBody>
          <a:bodyPr/>
          <a:lstStyle>
            <a:lvl1pPr>
              <a:defRPr/>
            </a:lvl1pPr>
          </a:lstStyle>
          <a:p>
            <a:pPr>
              <a:defRPr/>
            </a:pPr>
            <a:fld id="{4FC66193-1227-4306-86EA-F3E8448826D8}" type="datetime1">
              <a:rPr lang="en-IN"/>
              <a:pPr>
                <a:defRPr/>
              </a:pPr>
              <a:t>15-01-2026</a:t>
            </a:fld>
            <a:endParaRPr lang="en-US"/>
          </a:p>
        </p:txBody>
      </p:sp>
      <p:sp>
        <p:nvSpPr>
          <p:cNvPr id="6" name="Footer Placeholder 4">
            <a:extLst>
              <a:ext uri="{FF2B5EF4-FFF2-40B4-BE49-F238E27FC236}">
                <a16:creationId xmlns:a16="http://schemas.microsoft.com/office/drawing/2014/main" id="{825682DC-4EFF-9FBF-343D-A40CA871EC9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74768F-3243-A88E-2408-B0F637077E11}"/>
              </a:ext>
            </a:extLst>
          </p:cNvPr>
          <p:cNvSpPr>
            <a:spLocks noGrp="1"/>
          </p:cNvSpPr>
          <p:nvPr>
            <p:ph type="sldNum" sz="quarter" idx="12"/>
          </p:nvPr>
        </p:nvSpPr>
        <p:spPr/>
        <p:txBody>
          <a:bodyPr/>
          <a:lstStyle>
            <a:lvl1pPr>
              <a:defRPr/>
            </a:lvl1pPr>
          </a:lstStyle>
          <a:p>
            <a:fld id="{EE67D5AC-B00F-4C91-B92A-68956AF0DF21}" type="slidenum">
              <a:rPr lang="en-US" altLang="en-US"/>
              <a:pPr/>
              <a:t>‹#›</a:t>
            </a:fld>
            <a:endParaRPr lang="en-US" altLang="en-US"/>
          </a:p>
        </p:txBody>
      </p:sp>
    </p:spTree>
    <p:extLst>
      <p:ext uri="{BB962C8B-B14F-4D97-AF65-F5344CB8AC3E}">
        <p14:creationId xmlns:p14="http://schemas.microsoft.com/office/powerpoint/2010/main" val="1583245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C742B1F-D8E6-1FB4-707B-19A06EB5F884}"/>
              </a:ext>
            </a:extLst>
          </p:cNvPr>
          <p:cNvSpPr>
            <a:spLocks noGrp="1"/>
          </p:cNvSpPr>
          <p:nvPr>
            <p:ph type="dt" sz="half" idx="10"/>
          </p:nvPr>
        </p:nvSpPr>
        <p:spPr/>
        <p:txBody>
          <a:bodyPr/>
          <a:lstStyle>
            <a:lvl1pPr>
              <a:defRPr/>
            </a:lvl1pPr>
          </a:lstStyle>
          <a:p>
            <a:pPr>
              <a:defRPr/>
            </a:pPr>
            <a:fld id="{9F2D2A21-08DA-409E-B150-B7A2D8BACCDA}" type="datetime1">
              <a:rPr lang="en-IN"/>
              <a:pPr>
                <a:defRPr/>
              </a:pPr>
              <a:t>15-01-2026</a:t>
            </a:fld>
            <a:endParaRPr lang="en-US"/>
          </a:p>
        </p:txBody>
      </p:sp>
      <p:sp>
        <p:nvSpPr>
          <p:cNvPr id="6" name="Footer Placeholder 4">
            <a:extLst>
              <a:ext uri="{FF2B5EF4-FFF2-40B4-BE49-F238E27FC236}">
                <a16:creationId xmlns:a16="http://schemas.microsoft.com/office/drawing/2014/main" id="{D168FF85-3C0B-414C-249B-E579343B26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B2681AE-0065-FC0D-A984-973AAFE66146}"/>
              </a:ext>
            </a:extLst>
          </p:cNvPr>
          <p:cNvSpPr>
            <a:spLocks noGrp="1"/>
          </p:cNvSpPr>
          <p:nvPr>
            <p:ph type="sldNum" sz="quarter" idx="12"/>
          </p:nvPr>
        </p:nvSpPr>
        <p:spPr/>
        <p:txBody>
          <a:bodyPr/>
          <a:lstStyle>
            <a:lvl1pPr>
              <a:defRPr/>
            </a:lvl1pPr>
          </a:lstStyle>
          <a:p>
            <a:fld id="{31D834E2-A61E-433D-81DF-7D4CA94DDEB9}" type="slidenum">
              <a:rPr lang="en-US" altLang="en-US"/>
              <a:pPr/>
              <a:t>‹#›</a:t>
            </a:fld>
            <a:endParaRPr lang="en-US" altLang="en-US"/>
          </a:p>
        </p:txBody>
      </p:sp>
    </p:spTree>
    <p:extLst>
      <p:ext uri="{BB962C8B-B14F-4D97-AF65-F5344CB8AC3E}">
        <p14:creationId xmlns:p14="http://schemas.microsoft.com/office/powerpoint/2010/main" val="37823156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31AB41-3579-C9CD-8643-0A107A164652}"/>
              </a:ext>
            </a:extLst>
          </p:cNvPr>
          <p:cNvSpPr>
            <a:spLocks noGrp="1"/>
          </p:cNvSpPr>
          <p:nvPr>
            <p:ph type="dt" sz="half" idx="10"/>
          </p:nvPr>
        </p:nvSpPr>
        <p:spPr/>
        <p:txBody>
          <a:bodyPr/>
          <a:lstStyle>
            <a:lvl1pPr>
              <a:defRPr/>
            </a:lvl1pPr>
          </a:lstStyle>
          <a:p>
            <a:pPr>
              <a:defRPr/>
            </a:pPr>
            <a:fld id="{F4048BCE-DB0C-41ED-898E-1D06B4BE5743}" type="datetime1">
              <a:rPr lang="en-IN"/>
              <a:pPr>
                <a:defRPr/>
              </a:pPr>
              <a:t>15-01-2026</a:t>
            </a:fld>
            <a:endParaRPr lang="en-US"/>
          </a:p>
        </p:txBody>
      </p:sp>
      <p:sp>
        <p:nvSpPr>
          <p:cNvPr id="5" name="Footer Placeholder 4">
            <a:extLst>
              <a:ext uri="{FF2B5EF4-FFF2-40B4-BE49-F238E27FC236}">
                <a16:creationId xmlns:a16="http://schemas.microsoft.com/office/drawing/2014/main" id="{0F788683-6399-45D7-2703-23DD8B7F9AB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EBA2BA-6211-5F49-730F-0494995A57E8}"/>
              </a:ext>
            </a:extLst>
          </p:cNvPr>
          <p:cNvSpPr>
            <a:spLocks noGrp="1"/>
          </p:cNvSpPr>
          <p:nvPr>
            <p:ph type="sldNum" sz="quarter" idx="12"/>
          </p:nvPr>
        </p:nvSpPr>
        <p:spPr/>
        <p:txBody>
          <a:bodyPr/>
          <a:lstStyle>
            <a:lvl1pPr>
              <a:defRPr/>
            </a:lvl1pPr>
          </a:lstStyle>
          <a:p>
            <a:fld id="{DBC4382F-5C0F-471B-A54D-D10AC32E17DE}" type="slidenum">
              <a:rPr lang="en-US" altLang="en-US"/>
              <a:pPr/>
              <a:t>‹#›</a:t>
            </a:fld>
            <a:endParaRPr lang="en-US" altLang="en-US"/>
          </a:p>
        </p:txBody>
      </p:sp>
    </p:spTree>
    <p:extLst>
      <p:ext uri="{BB962C8B-B14F-4D97-AF65-F5344CB8AC3E}">
        <p14:creationId xmlns:p14="http://schemas.microsoft.com/office/powerpoint/2010/main" val="6233719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7A072-1485-7FE9-16C3-D2188AFB03D1}"/>
              </a:ext>
            </a:extLst>
          </p:cNvPr>
          <p:cNvSpPr>
            <a:spLocks noGrp="1"/>
          </p:cNvSpPr>
          <p:nvPr>
            <p:ph type="dt" sz="half" idx="10"/>
          </p:nvPr>
        </p:nvSpPr>
        <p:spPr/>
        <p:txBody>
          <a:bodyPr/>
          <a:lstStyle>
            <a:lvl1pPr>
              <a:defRPr/>
            </a:lvl1pPr>
          </a:lstStyle>
          <a:p>
            <a:pPr>
              <a:defRPr/>
            </a:pPr>
            <a:fld id="{5C162E7E-7286-4F29-90ED-2FEC0BFB92E6}" type="datetime1">
              <a:rPr lang="en-IN"/>
              <a:pPr>
                <a:defRPr/>
              </a:pPr>
              <a:t>15-01-2026</a:t>
            </a:fld>
            <a:endParaRPr lang="en-US"/>
          </a:p>
        </p:txBody>
      </p:sp>
      <p:sp>
        <p:nvSpPr>
          <p:cNvPr id="5" name="Footer Placeholder 4">
            <a:extLst>
              <a:ext uri="{FF2B5EF4-FFF2-40B4-BE49-F238E27FC236}">
                <a16:creationId xmlns:a16="http://schemas.microsoft.com/office/drawing/2014/main" id="{C1D46ECB-77FD-E9E6-D540-F4E32CF36D6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3D01E79-815C-C22A-C864-53E841F5FF81}"/>
              </a:ext>
            </a:extLst>
          </p:cNvPr>
          <p:cNvSpPr>
            <a:spLocks noGrp="1"/>
          </p:cNvSpPr>
          <p:nvPr>
            <p:ph type="sldNum" sz="quarter" idx="12"/>
          </p:nvPr>
        </p:nvSpPr>
        <p:spPr/>
        <p:txBody>
          <a:bodyPr/>
          <a:lstStyle>
            <a:lvl1pPr>
              <a:defRPr/>
            </a:lvl1pPr>
          </a:lstStyle>
          <a:p>
            <a:fld id="{F56C8D35-A397-49C7-A3BF-98438E8F6243}" type="slidenum">
              <a:rPr lang="en-US" altLang="en-US"/>
              <a:pPr/>
              <a:t>‹#›</a:t>
            </a:fld>
            <a:endParaRPr lang="en-US" altLang="en-US"/>
          </a:p>
        </p:txBody>
      </p:sp>
    </p:spTree>
    <p:extLst>
      <p:ext uri="{BB962C8B-B14F-4D97-AF65-F5344CB8AC3E}">
        <p14:creationId xmlns:p14="http://schemas.microsoft.com/office/powerpoint/2010/main" val="1335378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12AE8EA5-C483-E865-9A8D-3BEC1DDE611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7E43E91E-4687-C16C-8230-F5367CB9210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652C9B9-DE35-4CD7-9427-9863034D4B9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5EB01BA4-FA49-4AE8-9DE4-1D399C49B71A}" type="datetime1">
              <a:rPr lang="en-IN"/>
              <a:pPr>
                <a:defRPr/>
              </a:pPr>
              <a:t>15-01-2026</a:t>
            </a:fld>
            <a:endParaRPr lang="en-US"/>
          </a:p>
        </p:txBody>
      </p:sp>
      <p:sp>
        <p:nvSpPr>
          <p:cNvPr id="5" name="Footer Placeholder 4">
            <a:extLst>
              <a:ext uri="{FF2B5EF4-FFF2-40B4-BE49-F238E27FC236}">
                <a16:creationId xmlns:a16="http://schemas.microsoft.com/office/drawing/2014/main" id="{BA6F9237-08E2-4472-AB13-07BA0BD5219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AF58F3BD-315E-4F97-8455-2E8DA7798AD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7268D517-A8F6-4A71-91CB-4EE6346C79C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E8F98948-24CA-3146-D17B-01042638EF9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090B21B0-483D-C3E1-296A-3F0556083D1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0A97012-F064-4F3A-B9EB-CD2E42DCB4C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DB2F3295-1636-4F5E-AAEA-E17A398CDC70}" type="datetime1">
              <a:rPr lang="en-IN"/>
              <a:pPr>
                <a:defRPr/>
              </a:pPr>
              <a:t>15-01-2026</a:t>
            </a:fld>
            <a:endParaRPr lang="en-US"/>
          </a:p>
        </p:txBody>
      </p:sp>
      <p:sp>
        <p:nvSpPr>
          <p:cNvPr id="5" name="Footer Placeholder 4">
            <a:extLst>
              <a:ext uri="{FF2B5EF4-FFF2-40B4-BE49-F238E27FC236}">
                <a16:creationId xmlns:a16="http://schemas.microsoft.com/office/drawing/2014/main" id="{5C49DD19-9F10-4BC2-8DDB-D08BF6F929F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34BEE32-E252-4996-BFF2-2DB0B5A604C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0C7051F-3A58-47E1-9EF7-6EA1F417781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9AC9E2E2-1468-28DF-D047-446420C3A07E}"/>
              </a:ext>
            </a:extLst>
          </p:cNvPr>
          <p:cNvSpPr>
            <a:spLocks noGrp="1" noChangeArrowheads="1"/>
          </p:cNvSpPr>
          <p:nvPr>
            <p:ph type="title"/>
          </p:nvPr>
        </p:nvSpPr>
        <p:spPr>
          <a:xfrm>
            <a:off x="239713" y="747713"/>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Final:  Review – 1 on</a:t>
            </a:r>
            <a:br>
              <a:rPr lang="en-IN" altLang="en-US" sz="3200" b="1" dirty="0">
                <a:latin typeface="Times New Roman" panose="02020603050405020304" pitchFamily="18" charset="0"/>
                <a:cs typeface="Times New Roman" panose="02020603050405020304" pitchFamily="18" charset="0"/>
              </a:rPr>
            </a:br>
            <a:r>
              <a:rPr lang="en-IN" altLang="en-US" sz="2800" b="1" dirty="0">
                <a:solidFill>
                  <a:srgbClr val="00B0F0"/>
                </a:solidFill>
                <a:latin typeface="Times New Roman" panose="02020603050405020304" pitchFamily="18" charset="0"/>
                <a:cs typeface="Times New Roman" panose="02020603050405020304" pitchFamily="18" charset="0"/>
              </a:rPr>
              <a:t>Secure Data Sharing in Cloud Using Attribute-Based Encryption (ABE)</a:t>
            </a:r>
            <a:endParaRPr lang="en-IN" alt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0F7BF2-9E13-4B0D-847D-A8379F677F47}"/>
              </a:ext>
            </a:extLst>
          </p:cNvPr>
          <p:cNvSpPr>
            <a:spLocks noGrp="1"/>
          </p:cNvSpPr>
          <p:nvPr>
            <p:ph idx="1"/>
          </p:nvPr>
        </p:nvSpPr>
        <p:spPr>
          <a:xfrm>
            <a:off x="2411413" y="4508500"/>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p>
          <a:p>
            <a:pPr marL="0" indent="0" algn="ctr" eaLnBrk="1" fontAlgn="auto" hangingPunct="1">
              <a:spcAft>
                <a:spcPts val="0"/>
              </a:spcAft>
              <a:buFont typeface="Arial" panose="020B0604020202020204" pitchFamily="34" charset="0"/>
              <a:buNone/>
              <a:defRPr/>
            </a:pPr>
            <a:r>
              <a:rPr lang="en-US" altLang="en-US" sz="2000" dirty="0">
                <a:latin typeface="Times New Roman" pitchFamily="18" charset="0"/>
                <a:cs typeface="Times New Roman" pitchFamily="18" charset="0"/>
              </a:rPr>
              <a:t>Nida Kousar G</a:t>
            </a:r>
          </a:p>
          <a:p>
            <a:pPr marL="0" indent="0" algn="ctr" eaLnBrk="1" fontAlgn="auto" hangingPunct="1">
              <a:spcAft>
                <a:spcPts val="0"/>
              </a:spcAft>
              <a:buFont typeface="Arial" panose="020B0604020202020204" pitchFamily="34" charset="0"/>
              <a:buNone/>
              <a:defRPr/>
            </a:pPr>
            <a:r>
              <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 </a:t>
            </a:r>
          </a:p>
        </p:txBody>
      </p:sp>
      <p:sp>
        <p:nvSpPr>
          <p:cNvPr id="4100" name="TextBox 4">
            <a:extLst>
              <a:ext uri="{FF2B5EF4-FFF2-40B4-BE49-F238E27FC236}">
                <a16:creationId xmlns:a16="http://schemas.microsoft.com/office/drawing/2014/main" id="{46842372-42CF-4A01-97BE-3B8E70EB2F84}"/>
              </a:ext>
            </a:extLst>
          </p:cNvPr>
          <p:cNvSpPr txBox="1">
            <a:spLocks noChangeArrowheads="1"/>
          </p:cNvSpPr>
          <p:nvPr/>
        </p:nvSpPr>
        <p:spPr bwMode="auto">
          <a:xfrm>
            <a:off x="294955" y="2542155"/>
            <a:ext cx="8375650" cy="139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Presented by the Batch No. : CS - 03</a:t>
            </a:r>
          </a:p>
          <a:p>
            <a:pPr>
              <a:defRPr/>
            </a:pPr>
            <a:endParaRPr lang="en-US" altLang="en-US" sz="105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Patan Ahammad Sahid             -     BU22CSEN0400031 (TL)</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Mohammed Mehraj Ahmed     -     BU22CSEN0400125 (TM-1)</a:t>
            </a:r>
            <a:endParaRPr lang="en-US" altLang="en-US" sz="1800" dirty="0">
              <a:solidFill>
                <a:prstClr val="black"/>
              </a:solidFill>
              <a:latin typeface="Times New Roman" pitchFamily="18" charset="0"/>
              <a:cs typeface="Times New Roman" pitchFamily="18" charset="0"/>
            </a:endParaRPr>
          </a:p>
          <a:p>
            <a:pPr>
              <a:defRPr/>
            </a:pPr>
            <a:r>
              <a:rPr lang="it-IT" altLang="en-US" sz="1800" b="1" dirty="0">
                <a:solidFill>
                  <a:prstClr val="black"/>
                </a:solidFill>
                <a:latin typeface="Times New Roman" pitchFamily="18" charset="0"/>
                <a:cs typeface="Times New Roman" pitchFamily="18" charset="0"/>
              </a:rPr>
              <a:t>                             Ranjith Gowda B M                  -     BU22CSEN0400258 (TM-2)</a:t>
            </a:r>
            <a:endParaRPr lang="en-US" altLang="en-US" sz="1800" dirty="0">
              <a:solidFill>
                <a:prstClr val="black"/>
              </a:solidFill>
              <a:latin typeface="Times New Roman" pitchFamily="18" charset="0"/>
              <a:cs typeface="Times New Roman" pitchFamily="18" charset="0"/>
            </a:endParaRPr>
          </a:p>
        </p:txBody>
      </p:sp>
      <p:sp>
        <p:nvSpPr>
          <p:cNvPr id="5125" name="Rectangle 11">
            <a:extLst>
              <a:ext uri="{FF2B5EF4-FFF2-40B4-BE49-F238E27FC236}">
                <a16:creationId xmlns:a16="http://schemas.microsoft.com/office/drawing/2014/main" id="{57107A8B-B97D-BE2E-C030-ABC638A8E22E}"/>
              </a:ext>
            </a:extLst>
          </p:cNvPr>
          <p:cNvSpPr>
            <a:spLocks noChangeArrowheads="1"/>
          </p:cNvSpPr>
          <p:nvPr/>
        </p:nvSpPr>
        <p:spPr bwMode="auto">
          <a:xfrm>
            <a:off x="539750" y="5732463"/>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a:solidFill>
                  <a:srgbClr val="000099"/>
                </a:solidFill>
                <a:latin typeface="Times New Roman" panose="02020603050405020304" pitchFamily="18" charset="0"/>
                <a:cs typeface="Times New Roman" panose="02020603050405020304" pitchFamily="18" charset="0"/>
              </a:rPr>
              <a:t>Department of Computer Science and Engineering</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GITAM School of AI &amp; DS, GITAM (Deemed to be University),</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Bengaluru, Karnataka, INDIA.</a:t>
            </a:r>
            <a:endParaRPr lang="en-IN" altLang="en-US" sz="2000" b="1">
              <a:solidFill>
                <a:srgbClr val="000099"/>
              </a:solidFill>
              <a:latin typeface="Times New Roman" panose="02020603050405020304" pitchFamily="18" charset="0"/>
              <a:cs typeface="Times New Roman" panose="02020603050405020304" pitchFamily="18" charset="0"/>
            </a:endParaRPr>
          </a:p>
        </p:txBody>
      </p:sp>
      <p:pic>
        <p:nvPicPr>
          <p:cNvPr id="5126" name="Picture 2" descr="D:\GITAM-GST-CSE\2024-25\Capstone-Project\GITAM-newlogo.jpeg">
            <a:extLst>
              <a:ext uri="{FF2B5EF4-FFF2-40B4-BE49-F238E27FC236}">
                <a16:creationId xmlns:a16="http://schemas.microsoft.com/office/drawing/2014/main" id="{DF7261F7-7231-2522-EA44-35B2C0842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7C16AF9E-9EC1-4DE3-98D2-902E9E9DBC56}"/>
              </a:ext>
            </a:extLst>
          </p:cNvPr>
          <p:cNvSpPr>
            <a:spLocks noGrp="1" noChangeArrowheads="1"/>
          </p:cNvSpPr>
          <p:nvPr>
            <p:ph type="title"/>
          </p:nvPr>
        </p:nvSpPr>
        <p:spPr>
          <a:xfrm>
            <a:off x="250825" y="263525"/>
            <a:ext cx="5278438" cy="885825"/>
          </a:xfrm>
        </p:spPr>
        <p:txBody>
          <a:bodyPr/>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p>
        </p:txBody>
      </p:sp>
      <p:sp>
        <p:nvSpPr>
          <p:cNvPr id="6147" name="Content Placeholder 2">
            <a:extLst>
              <a:ext uri="{FF2B5EF4-FFF2-40B4-BE49-F238E27FC236}">
                <a16:creationId xmlns:a16="http://schemas.microsoft.com/office/drawing/2014/main" id="{FFD62A85-C185-86BF-0BA2-9B06E857DE8E}"/>
              </a:ext>
            </a:extLst>
          </p:cNvPr>
          <p:cNvSpPr>
            <a:spLocks noGrp="1" noChangeArrowheads="1"/>
          </p:cNvSpPr>
          <p:nvPr>
            <p:ph idx="1"/>
          </p:nvPr>
        </p:nvSpPr>
        <p:spPr>
          <a:xfrm>
            <a:off x="250825" y="1149350"/>
            <a:ext cx="8718550" cy="4519613"/>
          </a:xfrm>
        </p:spPr>
        <p:txBody>
          <a:bodyPr/>
          <a:lstStyle/>
          <a:p>
            <a:pPr marL="457200" indent="-457200" algn="just">
              <a:lnSpc>
                <a:spcPct val="150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Recap of Capstone Project Introduction Review-2</a:t>
            </a:r>
            <a:endParaRPr lang="en-IN" altLang="en-US" sz="20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000" dirty="0">
                <a:latin typeface="Times New Roman" panose="02020603050405020304" pitchFamily="18" charset="0"/>
                <a:cs typeface="Times New Roman" panose="02020603050405020304" pitchFamily="18" charset="0"/>
              </a:rPr>
              <a:t>Problem Statement</a:t>
            </a:r>
            <a:endParaRPr lang="en-IN" altLang="en-US" sz="20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000" dirty="0">
                <a:latin typeface="Times New Roman" panose="02020603050405020304" pitchFamily="18" charset="0"/>
                <a:cs typeface="Times New Roman" panose="02020603050405020304" pitchFamily="18" charset="0"/>
              </a:rPr>
              <a:t>Objectives and Project Workflow</a:t>
            </a:r>
            <a:endParaRPr lang="en-IN" altLang="en-US" sz="20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000" dirty="0">
                <a:latin typeface="Times New Roman" panose="02020603050405020304" pitchFamily="18" charset="0"/>
                <a:cs typeface="Times New Roman" panose="02020603050405020304" pitchFamily="18" charset="0"/>
              </a:rPr>
              <a:t>Feedback from Guide/Reviewers and actions taken after Review–2</a:t>
            </a:r>
          </a:p>
          <a:p>
            <a:pPr marL="457200" indent="-457200" algn="just">
              <a:lnSpc>
                <a:spcPct val="150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Methodology/Algorithms</a:t>
            </a:r>
            <a:endParaRPr lang="en-IN" altLang="en-US" sz="20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Status of Implementation</a:t>
            </a:r>
            <a:endParaRPr lang="en-IN" altLang="en-US" sz="20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Conclusion</a:t>
            </a:r>
            <a:endParaRPr lang="en-IN" altLang="en-US" sz="20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dirty="0">
                <a:latin typeface="Times New Roman" panose="02020603050405020304" pitchFamily="18" charset="0"/>
                <a:cs typeface="Times New Roman" panose="02020603050405020304" pitchFamily="18" charset="0"/>
              </a:rPr>
              <a:t>References</a:t>
            </a:r>
            <a:endParaRPr lang="en-IN" altLang="en-US" sz="2000" dirty="0">
              <a:latin typeface="Times New Roman" panose="02020603050405020304" pitchFamily="18" charset="0"/>
              <a:cs typeface="Times New Roman" panose="02020603050405020304" pitchFamily="18" charset="0"/>
            </a:endParaRPr>
          </a:p>
        </p:txBody>
      </p:sp>
      <p:sp>
        <p:nvSpPr>
          <p:cNvPr id="6148" name="Slide Number Placeholder 1">
            <a:extLst>
              <a:ext uri="{FF2B5EF4-FFF2-40B4-BE49-F238E27FC236}">
                <a16:creationId xmlns:a16="http://schemas.microsoft.com/office/drawing/2014/main" id="{50556FBC-1258-D98F-60CB-898F656895D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D5F34EF-1871-4410-8D4F-2BA03D5FF3E1}" type="slidenum">
              <a:rPr lang="en-US" altLang="en-US" sz="1200">
                <a:solidFill>
                  <a:srgbClr val="898989"/>
                </a:solidFill>
              </a:rPr>
              <a:pPr>
                <a:spcBef>
                  <a:spcPct val="0"/>
                </a:spcBef>
                <a:buFontTx/>
                <a:buNone/>
              </a:pPr>
              <a:t>2</a:t>
            </a:fld>
            <a:endParaRPr lang="en-US" altLang="en-US" sz="1200">
              <a:solidFill>
                <a:srgbClr val="898989"/>
              </a:solidFill>
            </a:endParaRPr>
          </a:p>
        </p:txBody>
      </p:sp>
      <p:pic>
        <p:nvPicPr>
          <p:cNvPr id="6149" name="Picture 2" descr="D:\GITAM-GST-CSE\2024-25\Capstone-Project\GITAM-newlogo.jpeg">
            <a:extLst>
              <a:ext uri="{FF2B5EF4-FFF2-40B4-BE49-F238E27FC236}">
                <a16:creationId xmlns:a16="http://schemas.microsoft.com/office/drawing/2014/main" id="{E4DAA1BE-8888-4D98-71AC-093955C782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FCA044F-08F9-BBF6-73B0-B9191491E888}"/>
              </a:ext>
            </a:extLst>
          </p:cNvPr>
          <p:cNvSpPr>
            <a:spLocks noGrp="1"/>
          </p:cNvSpPr>
          <p:nvPr>
            <p:ph type="title"/>
          </p:nvPr>
        </p:nvSpPr>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89563A0F-2E03-B435-7E3A-1BA847965D33}"/>
              </a:ext>
            </a:extLst>
          </p:cNvPr>
          <p:cNvSpPr>
            <a:spLocks noGrp="1" noChangeArrowheads="1"/>
          </p:cNvSpPr>
          <p:nvPr>
            <p:ph idx="1"/>
          </p:nvPr>
        </p:nvSpPr>
        <p:spPr bwMode="auto">
          <a:xfrm>
            <a:off x="107504" y="935038"/>
            <a:ext cx="9036496" cy="5782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Loss of Data Confidentiality in Cloud Storage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When sensitive data is stored on third-party cloud platforms, users must trust the service provider with their files. This results in loss of control over data confidentiality and increases the risk of data breaches and insider misuse.</a:t>
            </a:r>
          </a:p>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Inadequate Access Control Mechanisms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Existing cloud systems do not provide fine-grained, user-defined access control. Data owners cannot precisely control access based on user attributes such as role, department, or clearance.</a:t>
            </a:r>
          </a:p>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Centralized Access Authorization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Cloud storage systems use centralized authorization, creating a single point of failure. A single authority can grant or deny access, making the system vulnerable to insider threats and unauthorized access.</a:t>
            </a:r>
          </a:p>
        </p:txBody>
      </p:sp>
      <p:sp>
        <p:nvSpPr>
          <p:cNvPr id="7172" name="Slide Number Placeholder 3">
            <a:extLst>
              <a:ext uri="{FF2B5EF4-FFF2-40B4-BE49-F238E27FC236}">
                <a16:creationId xmlns:a16="http://schemas.microsoft.com/office/drawing/2014/main" id="{F1BA13EE-80ED-4F00-6E9D-B6EA68C49C0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598B82-D8A6-440B-8D83-F35B624C0FA2}" type="slidenum">
              <a:rPr lang="en-IN" altLang="en-US" sz="1200">
                <a:solidFill>
                  <a:srgbClr val="898989"/>
                </a:solidFill>
              </a:rPr>
              <a:pPr>
                <a:spcBef>
                  <a:spcPct val="0"/>
                </a:spcBef>
                <a:buFontTx/>
                <a:buNone/>
              </a:pPr>
              <a:t>3</a:t>
            </a:fld>
            <a:endParaRPr lang="en-IN" altLang="en-US" sz="1200">
              <a:solidFill>
                <a:srgbClr val="898989"/>
              </a:solidFill>
            </a:endParaRPr>
          </a:p>
        </p:txBody>
      </p:sp>
      <p:pic>
        <p:nvPicPr>
          <p:cNvPr id="7173" name="Picture 2" descr="D:\GITAM-GST-CSE\2024-25\Capstone-Project\GITAM-newlogo.jpeg">
            <a:extLst>
              <a:ext uri="{FF2B5EF4-FFF2-40B4-BE49-F238E27FC236}">
                <a16:creationId xmlns:a16="http://schemas.microsoft.com/office/drawing/2014/main" id="{E16BD433-D543-0FD1-9471-D1D42815FD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DB303D3-9721-FCDC-44C1-96BD5D5A0AB8}"/>
              </a:ext>
            </a:extLst>
          </p:cNvPr>
          <p:cNvSpPr>
            <a:spLocks noGrp="1"/>
          </p:cNvSpPr>
          <p:nvPr>
            <p:ph type="title"/>
          </p:nvPr>
        </p:nvSpPr>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Objectives</a:t>
            </a:r>
          </a:p>
        </p:txBody>
      </p:sp>
      <p:sp>
        <p:nvSpPr>
          <p:cNvPr id="8195" name="Content Placeholder 2">
            <a:extLst>
              <a:ext uri="{FF2B5EF4-FFF2-40B4-BE49-F238E27FC236}">
                <a16:creationId xmlns:a16="http://schemas.microsoft.com/office/drawing/2014/main" id="{49D4E114-F7AB-FE55-2C3E-EE1B7DE13388}"/>
              </a:ext>
            </a:extLst>
          </p:cNvPr>
          <p:cNvSpPr>
            <a:spLocks noGrp="1"/>
          </p:cNvSpPr>
          <p:nvPr>
            <p:ph idx="1"/>
          </p:nvPr>
        </p:nvSpPr>
        <p:spPr>
          <a:xfrm>
            <a:off x="457200" y="1417638"/>
            <a:ext cx="8229600" cy="4525963"/>
          </a:xfrm>
        </p:spPr>
        <p:txBody>
          <a:bodyPr/>
          <a:lstStyle/>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Objective–1: Ensure confidentiality of shared files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Encrypt every uploaded file using AES‑256 before storing, so data remains protected at rest and during transfer.</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Objective–2: Provide fine‑grained, attribute‑based access control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Define “who can access” each file using attribute policies (AND/OR rules) based on user attributes like role, department (dept), and clearance.</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Objective–3: Enforce decentralized approval before decryption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Require a blockchain-based threshold approval (4‑of‑7 authorities) for each access request so no single party can grant access alone.</a:t>
            </a:r>
          </a:p>
        </p:txBody>
      </p:sp>
      <p:sp>
        <p:nvSpPr>
          <p:cNvPr id="8196" name="Slide Number Placeholder 3">
            <a:extLst>
              <a:ext uri="{FF2B5EF4-FFF2-40B4-BE49-F238E27FC236}">
                <a16:creationId xmlns:a16="http://schemas.microsoft.com/office/drawing/2014/main" id="{EC02752D-7B70-E0A0-D205-0974039B6D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52FD9ED-DB82-43D9-9F87-72EC3D46BBFA}" type="slidenum">
              <a:rPr lang="en-IN" altLang="en-US" sz="1200">
                <a:solidFill>
                  <a:srgbClr val="898989"/>
                </a:solidFill>
              </a:rPr>
              <a:pPr>
                <a:spcBef>
                  <a:spcPct val="0"/>
                </a:spcBef>
                <a:buFontTx/>
                <a:buNone/>
              </a:pPr>
              <a:t>4</a:t>
            </a:fld>
            <a:endParaRPr lang="en-IN" altLang="en-US" sz="1200">
              <a:solidFill>
                <a:srgbClr val="898989"/>
              </a:solidFill>
            </a:endParaRPr>
          </a:p>
        </p:txBody>
      </p:sp>
      <p:pic>
        <p:nvPicPr>
          <p:cNvPr id="8197" name="Picture 2" descr="D:\GITAM-GST-CSE\2024-25\Capstone-Project\GITAM-newlogo.jpeg">
            <a:extLst>
              <a:ext uri="{FF2B5EF4-FFF2-40B4-BE49-F238E27FC236}">
                <a16:creationId xmlns:a16="http://schemas.microsoft.com/office/drawing/2014/main" id="{CF483CBD-8E2F-479C-03A7-E36B2DE6FF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A5C3563-5039-8006-450C-DBF9020A92E9}"/>
              </a:ext>
            </a:extLst>
          </p:cNvPr>
          <p:cNvSpPr>
            <a:spLocks noGrp="1"/>
          </p:cNvSpPr>
          <p:nvPr>
            <p:ph type="title"/>
          </p:nvPr>
        </p:nvSpPr>
        <p:spPr/>
        <p:txBody>
          <a:bodyPr/>
          <a:lstStyle/>
          <a:p>
            <a:r>
              <a:rPr lang="en-US" altLang="en-US" sz="2800" b="1" dirty="0">
                <a:solidFill>
                  <a:srgbClr val="00B050"/>
                </a:solidFill>
                <a:latin typeface="Times New Roman" panose="02020603050405020304" pitchFamily="18" charset="0"/>
                <a:cs typeface="Times New Roman" panose="02020603050405020304" pitchFamily="18" charset="0"/>
              </a:rPr>
              <a:t>Design Strategy</a:t>
            </a:r>
            <a:endParaRPr lang="en-IN" altLang="en-US" sz="2800" dirty="0">
              <a:solidFill>
                <a:srgbClr val="00B050"/>
              </a:solidFill>
            </a:endParaRPr>
          </a:p>
        </p:txBody>
      </p:sp>
      <p:sp>
        <p:nvSpPr>
          <p:cNvPr id="9219" name="Slide Number Placeholder 3">
            <a:extLst>
              <a:ext uri="{FF2B5EF4-FFF2-40B4-BE49-F238E27FC236}">
                <a16:creationId xmlns:a16="http://schemas.microsoft.com/office/drawing/2014/main" id="{BA60B084-F046-D9D0-AF15-AAFDD35DAF2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8BE2FF2-F3E9-4AC7-B66F-6682F036C931}" type="slidenum">
              <a:rPr lang="en-IN" altLang="en-US" sz="1200">
                <a:solidFill>
                  <a:srgbClr val="898989"/>
                </a:solidFill>
              </a:rPr>
              <a:pPr>
                <a:spcBef>
                  <a:spcPct val="0"/>
                </a:spcBef>
                <a:buFontTx/>
                <a:buNone/>
              </a:pPr>
              <a:t>5</a:t>
            </a:fld>
            <a:endParaRPr lang="en-IN" altLang="en-US" sz="1200">
              <a:solidFill>
                <a:srgbClr val="898989"/>
              </a:solidFill>
            </a:endParaRPr>
          </a:p>
        </p:txBody>
      </p:sp>
      <p:sp>
        <p:nvSpPr>
          <p:cNvPr id="9220" name="Rectangle 3">
            <a:extLst>
              <a:ext uri="{FF2B5EF4-FFF2-40B4-BE49-F238E27FC236}">
                <a16:creationId xmlns:a16="http://schemas.microsoft.com/office/drawing/2014/main" id="{34471E48-D365-9484-5B54-FC5387E677FF}"/>
              </a:ext>
            </a:extLst>
          </p:cNvPr>
          <p:cNvSpPr>
            <a:spLocks noChangeArrowheads="1"/>
          </p:cNvSpPr>
          <p:nvPr/>
        </p:nvSpPr>
        <p:spPr bwMode="auto">
          <a:xfrm>
            <a:off x="457200" y="981453"/>
            <a:ext cx="21329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Project Workflow</a:t>
            </a:r>
            <a:endParaRPr lang="en-IN" altLang="en-US" sz="2000" dirty="0"/>
          </a:p>
        </p:txBody>
      </p:sp>
      <p:pic>
        <p:nvPicPr>
          <p:cNvPr id="9221" name="Picture 2" descr="D:\GITAM-GST-CSE\2024-25\Capstone-Project\GITAM-newlogo.jpeg">
            <a:extLst>
              <a:ext uri="{FF2B5EF4-FFF2-40B4-BE49-F238E27FC236}">
                <a16:creationId xmlns:a16="http://schemas.microsoft.com/office/drawing/2014/main" id="{202AA049-F387-6FC8-766C-15F1A638E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96AFC591-FB41-8421-C661-85CA340881A7}"/>
              </a:ext>
            </a:extLst>
          </p:cNvPr>
          <p:cNvPicPr>
            <a:picLocks noChangeAspect="1"/>
          </p:cNvPicPr>
          <p:nvPr/>
        </p:nvPicPr>
        <p:blipFill>
          <a:blip r:embed="rId3"/>
          <a:srcRect t="3534" b="4233"/>
          <a:stretch>
            <a:fillRect/>
          </a:stretch>
        </p:blipFill>
        <p:spPr>
          <a:xfrm>
            <a:off x="0" y="1641853"/>
            <a:ext cx="9144000" cy="53012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8E5B9B51-F33E-83BB-92EB-2227A4825E3B}"/>
              </a:ext>
            </a:extLst>
          </p:cNvPr>
          <p:cNvSpPr>
            <a:spLocks noGrp="1"/>
          </p:cNvSpPr>
          <p:nvPr>
            <p:ph type="title"/>
          </p:nvPr>
        </p:nvSpPr>
        <p:spPr>
          <a:xfrm>
            <a:off x="323850" y="846138"/>
            <a:ext cx="8229600" cy="1143000"/>
          </a:xfrm>
        </p:spPr>
        <p:txBody>
          <a:bodyPr/>
          <a:lstStyle/>
          <a:p>
            <a:r>
              <a:rPr lang="en-US" altLang="en-US" sz="2800" b="1" dirty="0">
                <a:solidFill>
                  <a:srgbClr val="00B050"/>
                </a:solidFill>
                <a:latin typeface="Times New Roman" panose="02020603050405020304" pitchFamily="18" charset="0"/>
                <a:cs typeface="Times New Roman" panose="02020603050405020304" pitchFamily="18" charset="0"/>
              </a:rPr>
              <a:t>Feedback from Guide/Reviewers and actions taken after Review–2</a:t>
            </a:r>
          </a:p>
        </p:txBody>
      </p:sp>
      <p:sp>
        <p:nvSpPr>
          <p:cNvPr id="10244" name="Slide Number Placeholder 3">
            <a:extLst>
              <a:ext uri="{FF2B5EF4-FFF2-40B4-BE49-F238E27FC236}">
                <a16:creationId xmlns:a16="http://schemas.microsoft.com/office/drawing/2014/main" id="{765FAA4B-D6B6-1286-051B-4158C3378E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AD2BC1F-C624-4E4E-8791-77DC82B3C725}" type="slidenum">
              <a:rPr lang="en-IN" altLang="en-US" sz="1200">
                <a:solidFill>
                  <a:srgbClr val="898989"/>
                </a:solidFill>
              </a:rPr>
              <a:pPr>
                <a:spcBef>
                  <a:spcPct val="0"/>
                </a:spcBef>
                <a:buFontTx/>
                <a:buNone/>
              </a:pPr>
              <a:t>6</a:t>
            </a:fld>
            <a:endParaRPr lang="en-IN" altLang="en-US" sz="1200">
              <a:solidFill>
                <a:srgbClr val="898989"/>
              </a:solidFill>
            </a:endParaRPr>
          </a:p>
        </p:txBody>
      </p:sp>
      <p:sp>
        <p:nvSpPr>
          <p:cNvPr id="10245" name="Content Placeholder 2">
            <a:extLst>
              <a:ext uri="{FF2B5EF4-FFF2-40B4-BE49-F238E27FC236}">
                <a16:creationId xmlns:a16="http://schemas.microsoft.com/office/drawing/2014/main" id="{E15101C7-1DA5-2194-862E-0E61E5DFEA84}"/>
              </a:ext>
            </a:extLst>
          </p:cNvPr>
          <p:cNvSpPr txBox="1">
            <a:spLocks/>
          </p:cNvSpPr>
          <p:nvPr/>
        </p:nvSpPr>
        <p:spPr bwMode="auto">
          <a:xfrm>
            <a:off x="299210" y="1989138"/>
            <a:ext cx="8229600" cy="460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2200" b="1" dirty="0">
                <a:latin typeface="Times New Roman" panose="02020603050405020304" pitchFamily="18" charset="0"/>
                <a:cs typeface="Times New Roman" panose="02020603050405020304" pitchFamily="18" charset="0"/>
              </a:rPr>
              <a:t>Feedback from Guide/Reviewers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to clearly specify </a:t>
            </a:r>
            <a:r>
              <a:rPr lang="en-US" sz="2000" b="1" dirty="0">
                <a:latin typeface="Times New Roman" panose="02020603050405020304" pitchFamily="18" charset="0"/>
                <a:cs typeface="Times New Roman" panose="02020603050405020304" pitchFamily="18" charset="0"/>
              </a:rPr>
              <a:t>what encryption algorithm is used</a:t>
            </a:r>
            <a:r>
              <a:rPr lang="en-US" sz="2000" dirty="0">
                <a:latin typeface="Times New Roman" panose="02020603050405020304" pitchFamily="18" charset="0"/>
                <a:cs typeface="Times New Roman" panose="02020603050405020304" pitchFamily="18" charset="0"/>
              </a:rPr>
              <a:t> to protect uploaded files.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how </a:t>
            </a:r>
            <a:r>
              <a:rPr lang="en-US" sz="2000" b="1" dirty="0">
                <a:latin typeface="Times New Roman" panose="02020603050405020304" pitchFamily="18" charset="0"/>
                <a:cs typeface="Times New Roman" panose="02020603050405020304" pitchFamily="18" charset="0"/>
              </a:rPr>
              <a:t>access control is enforced</a:t>
            </a:r>
            <a:r>
              <a:rPr lang="en-US" sz="2000" dirty="0">
                <a:latin typeface="Times New Roman" panose="02020603050405020304" pitchFamily="18" charset="0"/>
                <a:cs typeface="Times New Roman" panose="02020603050405020304" pitchFamily="18" charset="0"/>
              </a:rPr>
              <a:t> so that unauthorized users cannot download files.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to justify the need for </a:t>
            </a:r>
            <a:r>
              <a:rPr lang="en-US" sz="2000" b="1" dirty="0">
                <a:latin typeface="Times New Roman" panose="02020603050405020304" pitchFamily="18" charset="0"/>
                <a:cs typeface="Times New Roman" panose="02020603050405020304" pitchFamily="18" charset="0"/>
              </a:rPr>
              <a:t>blockchain-based approval</a:t>
            </a:r>
            <a:r>
              <a:rPr lang="en-US" sz="2000" dirty="0">
                <a:latin typeface="Times New Roman" panose="02020603050405020304" pitchFamily="18" charset="0"/>
                <a:cs typeface="Times New Roman" panose="02020603050405020304" pitchFamily="18" charset="0"/>
              </a:rPr>
              <a:t> instead of a centralized authority.</a:t>
            </a: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p:txBody>
      </p:sp>
      <p:pic>
        <p:nvPicPr>
          <p:cNvPr id="10246" name="Picture 2" descr="D:\GITAM-GST-CSE\2024-25\Capstone-Project\GITAM-newlogo.jpeg">
            <a:extLst>
              <a:ext uri="{FF2B5EF4-FFF2-40B4-BE49-F238E27FC236}">
                <a16:creationId xmlns:a16="http://schemas.microsoft.com/office/drawing/2014/main" id="{218E26F0-4789-7A59-3870-741EC2C1F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81879E7-856B-2FD9-3D88-80DC2F21238A}"/>
              </a:ext>
            </a:extLst>
          </p:cNvPr>
          <p:cNvSpPr>
            <a:spLocks noGrp="1"/>
          </p:cNvSpPr>
          <p:nvPr>
            <p:ph type="sldNum" sz="quarter" idx="12"/>
          </p:nvPr>
        </p:nvSpPr>
        <p:spPr/>
        <p:txBody>
          <a:bodyPr/>
          <a:lstStyle/>
          <a:p>
            <a:fld id="{69948E53-7DAD-4292-AB41-1CE86D4048C2}" type="slidenum">
              <a:rPr lang="en-IN" altLang="en-US" smtClean="0"/>
              <a:pPr/>
              <a:t>7</a:t>
            </a:fld>
            <a:endParaRPr lang="en-IN" altLang="en-US"/>
          </a:p>
        </p:txBody>
      </p:sp>
      <p:sp>
        <p:nvSpPr>
          <p:cNvPr id="3" name="TextBox 2">
            <a:extLst>
              <a:ext uri="{FF2B5EF4-FFF2-40B4-BE49-F238E27FC236}">
                <a16:creationId xmlns:a16="http://schemas.microsoft.com/office/drawing/2014/main" id="{E531CD32-ED70-C9E3-53E5-67C994750365}"/>
              </a:ext>
            </a:extLst>
          </p:cNvPr>
          <p:cNvSpPr txBox="1"/>
          <p:nvPr/>
        </p:nvSpPr>
        <p:spPr>
          <a:xfrm>
            <a:off x="539552" y="947902"/>
            <a:ext cx="8280920" cy="5110181"/>
          </a:xfrm>
          <a:prstGeom prst="rect">
            <a:avLst/>
          </a:prstGeom>
          <a:noFill/>
        </p:spPr>
        <p:txBody>
          <a:bodyPr wrap="square" rtlCol="0">
            <a:spAutoFit/>
          </a:bodyPr>
          <a:lstStyle/>
          <a:p>
            <a:pPr eaLnBrk="1" hangingPunct="1">
              <a:lnSpc>
                <a:spcPct val="150000"/>
              </a:lnSpc>
              <a:spcAft>
                <a:spcPts val="800"/>
              </a:spcAft>
            </a:pPr>
            <a:r>
              <a:rPr lang="en-US" altLang="en-US" sz="2200" b="1" dirty="0">
                <a:latin typeface="Times New Roman" panose="02020603050405020304" pitchFamily="18" charset="0"/>
                <a:cs typeface="Times New Roman" panose="02020603050405020304" pitchFamily="18" charset="0"/>
              </a:rPr>
              <a:t>Actions taken </a:t>
            </a:r>
          </a:p>
          <a:p>
            <a:pPr marL="457200" indent="-457200">
              <a:lnSpc>
                <a:spcPct val="150000"/>
              </a:lnSpc>
              <a:spcAft>
                <a:spcPts val="800"/>
              </a:spcAft>
              <a:buFont typeface="+mj-lt"/>
              <a:buAutoNum type="arabicPeriod"/>
            </a:pPr>
            <a:r>
              <a:rPr lang="en-US" altLang="en-US" sz="2000" dirty="0">
                <a:latin typeface="Times New Roman" panose="02020603050405020304" pitchFamily="18" charset="0"/>
                <a:cs typeface="Times New Roman" panose="02020603050405020304" pitchFamily="18" charset="0"/>
              </a:rPr>
              <a:t>Clearly and documented </a:t>
            </a:r>
            <a:r>
              <a:rPr lang="en-US" altLang="en-US" sz="2000" b="1" dirty="0">
                <a:latin typeface="Times New Roman" panose="02020603050405020304" pitchFamily="18" charset="0"/>
                <a:cs typeface="Times New Roman" panose="02020603050405020304" pitchFamily="18" charset="0"/>
              </a:rPr>
              <a:t>AES-256 encryption</a:t>
            </a:r>
            <a:r>
              <a:rPr lang="en-US" altLang="en-US" sz="2000" dirty="0">
                <a:latin typeface="Times New Roman" panose="02020603050405020304" pitchFamily="18" charset="0"/>
                <a:cs typeface="Times New Roman" panose="02020603050405020304" pitchFamily="18" charset="0"/>
              </a:rPr>
              <a:t> for all uploaded files, ensuring data confidentiality at rest and during transfer.</a:t>
            </a:r>
          </a:p>
          <a:p>
            <a:pPr marL="457200" lvl="0" indent="-457200">
              <a:lnSpc>
                <a:spcPct val="150000"/>
              </a:lnSpc>
              <a:spcAft>
                <a:spcPts val="800"/>
              </a:spcAft>
              <a:buFont typeface="+mj-lt"/>
              <a:buAutoNum type="arabicPeriod"/>
            </a:pPr>
            <a:r>
              <a:rPr lang="en-US" altLang="en-US" sz="2000" dirty="0">
                <a:latin typeface="Times New Roman" panose="02020603050405020304" pitchFamily="18" charset="0"/>
                <a:cs typeface="Times New Roman" panose="02020603050405020304" pitchFamily="18" charset="0"/>
              </a:rPr>
              <a:t>Implemented </a:t>
            </a:r>
            <a:r>
              <a:rPr lang="en-US" altLang="en-US" sz="2000" b="1" dirty="0">
                <a:latin typeface="Times New Roman" panose="02020603050405020304" pitchFamily="18" charset="0"/>
                <a:cs typeface="Times New Roman" panose="02020603050405020304" pitchFamily="18" charset="0"/>
              </a:rPr>
              <a:t>attribute-based access control (AND/OR policies)</a:t>
            </a:r>
            <a:r>
              <a:rPr lang="en-US" altLang="en-US" sz="2000" dirty="0">
                <a:latin typeface="Times New Roman" panose="02020603050405020304" pitchFamily="18" charset="0"/>
                <a:cs typeface="Times New Roman" panose="02020603050405020304" pitchFamily="18" charset="0"/>
              </a:rPr>
              <a:t> using user attributes such as role, department, and clearance, and enforced policy checks before file download.</a:t>
            </a:r>
          </a:p>
          <a:p>
            <a:pPr marL="457200" lvl="0" indent="-457200">
              <a:lnSpc>
                <a:spcPct val="150000"/>
              </a:lnSpc>
              <a:spcAft>
                <a:spcPts val="800"/>
              </a:spcAft>
              <a:buFont typeface="+mj-lt"/>
              <a:buAutoNum type="arabicPeriod"/>
            </a:pPr>
            <a:r>
              <a:rPr lang="en-US" altLang="en-US" sz="2000" dirty="0">
                <a:latin typeface="Times New Roman" panose="02020603050405020304" pitchFamily="18" charset="0"/>
                <a:cs typeface="Times New Roman" panose="02020603050405020304" pitchFamily="18" charset="0"/>
              </a:rPr>
              <a:t>Integrated a </a:t>
            </a:r>
            <a:r>
              <a:rPr lang="en-US" altLang="en-US" sz="2000" b="1" dirty="0">
                <a:latin typeface="Times New Roman" panose="02020603050405020304" pitchFamily="18" charset="0"/>
                <a:cs typeface="Times New Roman" panose="02020603050405020304" pitchFamily="18" charset="0"/>
              </a:rPr>
              <a:t>blockchain-based threshold approval mechanism (4-of-7 authorities)</a:t>
            </a:r>
            <a:r>
              <a:rPr lang="en-US" altLang="en-US" sz="2000" dirty="0">
                <a:latin typeface="Times New Roman" panose="02020603050405020304" pitchFamily="18" charset="0"/>
                <a:cs typeface="Times New Roman" panose="02020603050405020304" pitchFamily="18" charset="0"/>
              </a:rPr>
              <a:t> to ensure decentralized, tamper-proof authorization before decryption</a:t>
            </a:r>
            <a:endParaRPr lang="en-US" altLang="en-US" sz="2000" b="1" dirty="0">
              <a:latin typeface="Times New Roman" panose="02020603050405020304" pitchFamily="18" charset="0"/>
              <a:cs typeface="Times New Roman" panose="02020603050405020304" pitchFamily="18" charset="0"/>
            </a:endParaRPr>
          </a:p>
          <a:p>
            <a:pPr>
              <a:lnSpc>
                <a:spcPct val="150000"/>
              </a:lnSpc>
              <a:spcAft>
                <a:spcPts val="800"/>
              </a:spcAft>
            </a:pPr>
            <a:endParaRPr lang="en-IN" sz="2000" dirty="0">
              <a:latin typeface="Times New Roman" panose="02020603050405020304" pitchFamily="18" charset="0"/>
              <a:cs typeface="Times New Roman" panose="02020603050405020304" pitchFamily="18" charset="0"/>
            </a:endParaRPr>
          </a:p>
        </p:txBody>
      </p:sp>
      <p:pic>
        <p:nvPicPr>
          <p:cNvPr id="4" name="Picture 2" descr="D:\GITAM-GST-CSE\2024-25\Capstone-Project\GITAM-newlogo.jpeg">
            <a:extLst>
              <a:ext uri="{FF2B5EF4-FFF2-40B4-BE49-F238E27FC236}">
                <a16:creationId xmlns:a16="http://schemas.microsoft.com/office/drawing/2014/main" id="{4A9A1025-23CB-81B0-35BC-29AB1DD393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3030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itle 1">
            <a:extLst>
              <a:ext uri="{FF2B5EF4-FFF2-40B4-BE49-F238E27FC236}">
                <a16:creationId xmlns:a16="http://schemas.microsoft.com/office/drawing/2014/main" id="{EE1E98D2-9D64-5B45-E1D3-06A25C0C343E}"/>
              </a:ext>
            </a:extLst>
          </p:cNvPr>
          <p:cNvSpPr>
            <a:spLocks noGrp="1"/>
          </p:cNvSpPr>
          <p:nvPr>
            <p:ph type="title"/>
          </p:nvPr>
        </p:nvSpPr>
        <p:spPr>
          <a:xfrm>
            <a:off x="457200" y="274638"/>
            <a:ext cx="8229600" cy="777875"/>
          </a:xfrm>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Methodology</a:t>
            </a:r>
          </a:p>
        </p:txBody>
      </p:sp>
      <p:sp>
        <p:nvSpPr>
          <p:cNvPr id="12290" name="Slide Number Placeholder 1">
            <a:extLst>
              <a:ext uri="{FF2B5EF4-FFF2-40B4-BE49-F238E27FC236}">
                <a16:creationId xmlns:a16="http://schemas.microsoft.com/office/drawing/2014/main" id="{07A19977-A392-E45A-8FC1-D5274901A0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2B3E5DE-22A0-466F-A0DD-0424ED3DEF53}" type="slidenum">
              <a:rPr lang="en-US" altLang="en-US" sz="1200">
                <a:solidFill>
                  <a:srgbClr val="898989"/>
                </a:solidFill>
              </a:rPr>
              <a:pPr>
                <a:spcBef>
                  <a:spcPct val="0"/>
                </a:spcBef>
                <a:buFontTx/>
                <a:buNone/>
              </a:pPr>
              <a:t>8</a:t>
            </a:fld>
            <a:endParaRPr lang="en-US" altLang="en-US" sz="1200">
              <a:solidFill>
                <a:srgbClr val="898989"/>
              </a:solidFill>
            </a:endParaRPr>
          </a:p>
        </p:txBody>
      </p:sp>
      <p:pic>
        <p:nvPicPr>
          <p:cNvPr id="12291" name="Picture 2" descr="D:\GITAM-GST-CSE\2024-25\Capstone-Project\GITAM-newlogo.jpeg">
            <a:extLst>
              <a:ext uri="{FF2B5EF4-FFF2-40B4-BE49-F238E27FC236}">
                <a16:creationId xmlns:a16="http://schemas.microsoft.com/office/drawing/2014/main" id="{827B1EBF-DC55-550D-071C-56C94198E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2D065A7-667D-5818-E2EA-993F73FF8F63}"/>
              </a:ext>
            </a:extLst>
          </p:cNvPr>
          <p:cNvSpPr txBox="1"/>
          <p:nvPr/>
        </p:nvSpPr>
        <p:spPr>
          <a:xfrm>
            <a:off x="440118" y="1186369"/>
            <a:ext cx="8263763" cy="5170646"/>
          </a:xfrm>
          <a:prstGeom prst="rect">
            <a:avLst/>
          </a:prstGeom>
          <a:noFill/>
        </p:spPr>
        <p:txBody>
          <a:bodyPr wrap="square">
            <a:spAutoFit/>
          </a:bodyPr>
          <a:lstStyle/>
          <a:p>
            <a:pPr marL="457200" indent="-457200">
              <a:spcAft>
                <a:spcPts val="1200"/>
              </a:spcAft>
              <a:buFont typeface="+mj-lt"/>
              <a:buAutoNum type="arabicPeriod"/>
            </a:pPr>
            <a:r>
              <a:rPr lang="en-US" sz="2000" b="1" dirty="0">
                <a:latin typeface="Times New Roman" panose="02020603050405020304" pitchFamily="18" charset="0"/>
                <a:cs typeface="Times New Roman" panose="02020603050405020304" pitchFamily="18" charset="0"/>
              </a:rPr>
              <a:t>Hybrid encryption methodology: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Encrypt large file data using symmetric AES (fast)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Secure the AES key using policy-based protection (ABE-style)</a:t>
            </a:r>
            <a:endParaRPr lang="en-US" sz="2000" b="1" dirty="0">
              <a:latin typeface="Times New Roman" panose="02020603050405020304" pitchFamily="18" charset="0"/>
              <a:cs typeface="Times New Roman" panose="02020603050405020304" pitchFamily="18" charset="0"/>
            </a:endParaRPr>
          </a:p>
          <a:p>
            <a:pPr marL="457200" indent="-457200">
              <a:spcAft>
                <a:spcPts val="1200"/>
              </a:spcAft>
              <a:buAutoNum type="arabicPeriod" startAt="2"/>
            </a:pPr>
            <a:r>
              <a:rPr lang="en-US" sz="2000" b="1" dirty="0">
                <a:latin typeface="Times New Roman" panose="02020603050405020304" pitchFamily="18" charset="0"/>
                <a:cs typeface="Times New Roman" panose="02020603050405020304" pitchFamily="18" charset="0"/>
              </a:rPr>
              <a:t>Attribute-policy access control: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attributes such as role, dept, clearance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Policy expression uses AND/OR conditions- Blockchain-based threshold approval: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authorities vote on-chain  - Access granted only when approvals meet threshold (4 of 7).</a:t>
            </a:r>
          </a:p>
          <a:p>
            <a:pPr>
              <a:spcAft>
                <a:spcPts val="1200"/>
              </a:spcAft>
            </a:pPr>
            <a:r>
              <a:rPr lang="en-US" sz="2000" b="1" dirty="0">
                <a:latin typeface="Times New Roman" panose="02020603050405020304" pitchFamily="18" charset="0"/>
                <a:cs typeface="Times New Roman" panose="02020603050405020304" pitchFamily="18" charset="0"/>
              </a:rPr>
              <a:t>3.   Local-first demo deployment: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SQLite DB for metadata </a:t>
            </a:r>
          </a:p>
          <a:p>
            <a:pPr marL="800100" lvl="1" indent="-342900">
              <a:spcAft>
                <a:spcPts val="12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Ganache local blockchain for approvals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itle 1">
            <a:extLst>
              <a:ext uri="{FF2B5EF4-FFF2-40B4-BE49-F238E27FC236}">
                <a16:creationId xmlns:a16="http://schemas.microsoft.com/office/drawing/2014/main" id="{99941138-FBE1-F655-94D7-84DB67D1D849}"/>
              </a:ext>
            </a:extLst>
          </p:cNvPr>
          <p:cNvSpPr>
            <a:spLocks noGrp="1"/>
          </p:cNvSpPr>
          <p:nvPr>
            <p:ph type="title"/>
          </p:nvPr>
        </p:nvSpPr>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Algorithm (s)</a:t>
            </a:r>
          </a:p>
        </p:txBody>
      </p:sp>
      <p:sp>
        <p:nvSpPr>
          <p:cNvPr id="13314" name="Slide Number Placeholder 1">
            <a:extLst>
              <a:ext uri="{FF2B5EF4-FFF2-40B4-BE49-F238E27FC236}">
                <a16:creationId xmlns:a16="http://schemas.microsoft.com/office/drawing/2014/main" id="{425D460B-4DDA-7A76-2AF8-687F6D8611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4C799A-3FFF-40AC-B708-526A95594E33}" type="slidenum">
              <a:rPr lang="en-US" altLang="en-US" sz="1200">
                <a:solidFill>
                  <a:srgbClr val="898989"/>
                </a:solidFill>
              </a:rPr>
              <a:pPr>
                <a:spcBef>
                  <a:spcPct val="0"/>
                </a:spcBef>
                <a:buFontTx/>
                <a:buNone/>
              </a:pPr>
              <a:t>9</a:t>
            </a:fld>
            <a:endParaRPr lang="en-US" altLang="en-US" sz="1200">
              <a:solidFill>
                <a:srgbClr val="898989"/>
              </a:solidFill>
            </a:endParaRPr>
          </a:p>
        </p:txBody>
      </p:sp>
      <p:pic>
        <p:nvPicPr>
          <p:cNvPr id="13315" name="Picture 2" descr="D:\GITAM-GST-CSE\2024-25\Capstone-Project\GITAM-newlogo.jpeg">
            <a:extLst>
              <a:ext uri="{FF2B5EF4-FFF2-40B4-BE49-F238E27FC236}">
                <a16:creationId xmlns:a16="http://schemas.microsoft.com/office/drawing/2014/main" id="{B945AF0B-FB40-0CB8-51B1-2E3712C12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4EB1319-B120-A6D3-266C-B1CD92B0336B}"/>
              </a:ext>
            </a:extLst>
          </p:cNvPr>
          <p:cNvSpPr txBox="1"/>
          <p:nvPr/>
        </p:nvSpPr>
        <p:spPr>
          <a:xfrm>
            <a:off x="277180" y="1220104"/>
            <a:ext cx="8589640" cy="1883657"/>
          </a:xfrm>
          <a:prstGeom prst="rect">
            <a:avLst/>
          </a:prstGeom>
          <a:noFill/>
        </p:spPr>
        <p:txBody>
          <a:bodyPr wrap="square">
            <a:spAutoFit/>
          </a:bodyPr>
          <a:lstStyle/>
          <a:p>
            <a:pPr marL="457200" indent="-457200">
              <a:lnSpc>
                <a:spcPct val="150000"/>
              </a:lnSpc>
              <a:buFont typeface="+mj-lt"/>
              <a:buAutoNum type="arabicPeriod"/>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AES-256-CBC (File encryption)</a:t>
            </a:r>
          </a:p>
          <a:p>
            <a:pPr marL="914400" lvl="1" indent="-4572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Key size: 256-bit (32 bytes)</a:t>
            </a:r>
          </a:p>
          <a:p>
            <a:pPr marL="914400" lvl="1" indent="-4572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IV: 128-bit (16 bytes), random</a:t>
            </a:r>
          </a:p>
          <a:p>
            <a:pPr marL="914400" lvl="1" indent="-4572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Padding: PKCS7</a:t>
            </a:r>
          </a:p>
        </p:txBody>
      </p:sp>
      <p:pic>
        <p:nvPicPr>
          <p:cNvPr id="6" name="Picture 5">
            <a:extLst>
              <a:ext uri="{FF2B5EF4-FFF2-40B4-BE49-F238E27FC236}">
                <a16:creationId xmlns:a16="http://schemas.microsoft.com/office/drawing/2014/main" id="{A6F9D77F-3ADA-C418-4515-45835733B8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 y="3103762"/>
            <a:ext cx="8199120" cy="36692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29A76A-3189-73E1-67C3-AB1F98B370B3}"/>
              </a:ext>
            </a:extLst>
          </p:cNvPr>
          <p:cNvSpPr>
            <a:spLocks noGrp="1"/>
          </p:cNvSpPr>
          <p:nvPr>
            <p:ph type="sldNum" sz="quarter" idx="12"/>
          </p:nvPr>
        </p:nvSpPr>
        <p:spPr/>
        <p:txBody>
          <a:bodyPr/>
          <a:lstStyle/>
          <a:p>
            <a:fld id="{B1068B5D-76B0-49FF-8988-1F8656E8F1DE}" type="slidenum">
              <a:rPr lang="en-US" altLang="en-US" smtClean="0"/>
              <a:pPr/>
              <a:t>10</a:t>
            </a:fld>
            <a:endParaRPr lang="en-US" altLang="en-US"/>
          </a:p>
        </p:txBody>
      </p:sp>
      <p:pic>
        <p:nvPicPr>
          <p:cNvPr id="1026" name="Picture 2" descr="Should CBC Mode Initialization Vector Be Secret - Defuse Security">
            <a:extLst>
              <a:ext uri="{FF2B5EF4-FFF2-40B4-BE49-F238E27FC236}">
                <a16:creationId xmlns:a16="http://schemas.microsoft.com/office/drawing/2014/main" id="{2C714618-A895-2542-1A5C-102E3B3099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4293023"/>
            <a:ext cx="5715000" cy="23145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B8B10B4-968C-70AC-A3AA-9DD32632ECB3}"/>
              </a:ext>
            </a:extLst>
          </p:cNvPr>
          <p:cNvSpPr txBox="1"/>
          <p:nvPr/>
        </p:nvSpPr>
        <p:spPr>
          <a:xfrm>
            <a:off x="495323" y="3727417"/>
            <a:ext cx="1519968"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CBC MODE</a:t>
            </a:r>
          </a:p>
        </p:txBody>
      </p:sp>
      <p:pic>
        <p:nvPicPr>
          <p:cNvPr id="5" name="Picture 4">
            <a:extLst>
              <a:ext uri="{FF2B5EF4-FFF2-40B4-BE49-F238E27FC236}">
                <a16:creationId xmlns:a16="http://schemas.microsoft.com/office/drawing/2014/main" id="{A3A87A12-9F69-8E1E-5A60-8E97C2C54840}"/>
              </a:ext>
            </a:extLst>
          </p:cNvPr>
          <p:cNvPicPr>
            <a:picLocks noChangeAspect="1"/>
          </p:cNvPicPr>
          <p:nvPr/>
        </p:nvPicPr>
        <p:blipFill>
          <a:blip r:embed="rId3"/>
          <a:stretch>
            <a:fillRect/>
          </a:stretch>
        </p:blipFill>
        <p:spPr>
          <a:xfrm>
            <a:off x="1277051" y="538537"/>
            <a:ext cx="5715000" cy="3213385"/>
          </a:xfrm>
          <a:prstGeom prst="rect">
            <a:avLst/>
          </a:prstGeom>
        </p:spPr>
      </p:pic>
    </p:spTree>
    <p:extLst>
      <p:ext uri="{BB962C8B-B14F-4D97-AF65-F5344CB8AC3E}">
        <p14:creationId xmlns:p14="http://schemas.microsoft.com/office/powerpoint/2010/main" val="3388488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C6B47-D6E7-EEF6-0317-B0D1BD6E5CAC}"/>
            </a:ext>
          </a:extLst>
        </p:cNvPr>
        <p:cNvGrpSpPr/>
        <p:nvPr/>
      </p:nvGrpSpPr>
      <p:grpSpPr>
        <a:xfrm>
          <a:off x="0" y="0"/>
          <a:ext cx="0" cy="0"/>
          <a:chOff x="0" y="0"/>
          <a:chExt cx="0" cy="0"/>
        </a:xfrm>
      </p:grpSpPr>
      <p:sp>
        <p:nvSpPr>
          <p:cNvPr id="13316" name="Title 1">
            <a:extLst>
              <a:ext uri="{FF2B5EF4-FFF2-40B4-BE49-F238E27FC236}">
                <a16:creationId xmlns:a16="http://schemas.microsoft.com/office/drawing/2014/main" id="{B64680B0-9E29-A1DC-FB29-28EAF092069B}"/>
              </a:ext>
            </a:extLst>
          </p:cNvPr>
          <p:cNvSpPr>
            <a:spLocks noGrp="1"/>
          </p:cNvSpPr>
          <p:nvPr>
            <p:ph type="title"/>
          </p:nvPr>
        </p:nvSpPr>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Algorithm (s)</a:t>
            </a:r>
          </a:p>
        </p:txBody>
      </p:sp>
      <p:sp>
        <p:nvSpPr>
          <p:cNvPr id="13314" name="Slide Number Placeholder 1">
            <a:extLst>
              <a:ext uri="{FF2B5EF4-FFF2-40B4-BE49-F238E27FC236}">
                <a16:creationId xmlns:a16="http://schemas.microsoft.com/office/drawing/2014/main" id="{D5F10862-3CB6-1CF5-C985-F74DB70602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64C799A-3FFF-40AC-B708-526A95594E33}" type="slidenum">
              <a:rPr lang="en-US" altLang="en-US" sz="1200">
                <a:solidFill>
                  <a:srgbClr val="898989"/>
                </a:solidFill>
              </a:rPr>
              <a:pPr>
                <a:spcBef>
                  <a:spcPct val="0"/>
                </a:spcBef>
                <a:buFontTx/>
                <a:buNone/>
              </a:pPr>
              <a:t>11</a:t>
            </a:fld>
            <a:endParaRPr lang="en-US" altLang="en-US" sz="1200">
              <a:solidFill>
                <a:srgbClr val="898989"/>
              </a:solidFill>
            </a:endParaRPr>
          </a:p>
        </p:txBody>
      </p:sp>
      <p:pic>
        <p:nvPicPr>
          <p:cNvPr id="13315" name="Picture 2" descr="D:\GITAM-GST-CSE\2024-25\Capstone-Project\GITAM-newlogo.jpeg">
            <a:extLst>
              <a:ext uri="{FF2B5EF4-FFF2-40B4-BE49-F238E27FC236}">
                <a16:creationId xmlns:a16="http://schemas.microsoft.com/office/drawing/2014/main" id="{AB187482-4A1C-A912-7227-7EB3A8DF8A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8F8574B-A373-E8E5-34D3-138066116DCB}"/>
              </a:ext>
            </a:extLst>
          </p:cNvPr>
          <p:cNvSpPr txBox="1"/>
          <p:nvPr/>
        </p:nvSpPr>
        <p:spPr>
          <a:xfrm>
            <a:off x="277180" y="1220104"/>
            <a:ext cx="8589640" cy="4653646"/>
          </a:xfrm>
          <a:prstGeom prst="rect">
            <a:avLst/>
          </a:prstGeom>
          <a:noFill/>
        </p:spPr>
        <p:txBody>
          <a:bodyPr wrap="square">
            <a:spAutoFit/>
          </a:bodyPr>
          <a:lstStyle/>
          <a:p>
            <a:pPr>
              <a:lnSpc>
                <a:spcPct val="150000"/>
              </a:lnSpc>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2.   Policy evaluation (CP-ABE style logic)</a:t>
            </a:r>
          </a:p>
          <a:p>
            <a:pPr marL="800100" lvl="1" indent="-3429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Supports AND / OR groups, Example: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role:admin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OR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role:manager</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AND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dept:IT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OR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dept:Finance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AND clearance:high3)</a:t>
            </a:r>
          </a:p>
          <a:p>
            <a:pPr>
              <a:lnSpc>
                <a:spcPct val="150000"/>
              </a:lnSpc>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3.    AES key protection (simulated CP-ABE key wrapping)</a:t>
            </a:r>
          </a:p>
          <a:p>
            <a:pPr marL="800100" lvl="1" indent="-3429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AES key is encrypted and stored along with policy</a:t>
            </a:r>
          </a:p>
          <a:p>
            <a:pPr marL="800100" lvl="1" indent="-342900">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Decryption allowed only when user attributes satisfy policy</a:t>
            </a:r>
            <a:r>
              <a:rPr lang="en-US" sz="2000" dirty="0">
                <a:latin typeface="Times New Roman" panose="02020603050405020304" pitchFamily="18" charset="0"/>
                <a:cs typeface="Times New Roman" panose="02020603050405020304" pitchFamily="18" charset="0"/>
              </a:rPr>
              <a:t> </a:t>
            </a:r>
          </a:p>
          <a:p>
            <a:pPr>
              <a:lnSpc>
                <a:spcPct val="150000"/>
              </a:lnSpc>
            </a:pPr>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Blockchain threshold approval </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Smart contract stores approvals count per </a:t>
            </a:r>
            <a:r>
              <a:rPr lang="en-US" sz="2000" dirty="0" err="1">
                <a:latin typeface="Times New Roman" panose="02020603050405020304" pitchFamily="18" charset="0"/>
                <a:cs typeface="Times New Roman" panose="02020603050405020304" pitchFamily="18" charset="0"/>
              </a:rPr>
              <a:t>key_id</a:t>
            </a:r>
            <a:r>
              <a:rPr lang="en-US" sz="2000" dirty="0">
                <a:latin typeface="Times New Roman" panose="02020603050405020304" pitchFamily="18" charset="0"/>
                <a:cs typeface="Times New Roman" panose="02020603050405020304" pitchFamily="18" charset="0"/>
              </a:rPr>
              <a:t>.</a:t>
            </a:r>
          </a:p>
          <a:p>
            <a:pPr marL="800100" lvl="1" indent="-342900">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isApproved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key_id</a:t>
            </a:r>
            <a:r>
              <a:rPr lang="en-US" sz="2000" dirty="0">
                <a:latin typeface="Times New Roman" panose="02020603050405020304" pitchFamily="18" charset="0"/>
                <a:cs typeface="Times New Roman" panose="02020603050405020304" pitchFamily="18" charset="0"/>
              </a:rPr>
              <a:t>) returns true when approvals &gt;= threshold (4)</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823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0C5D58D0-F1CC-AA94-7C30-D84ACD613A0A}"/>
              </a:ext>
            </a:extLst>
          </p:cNvPr>
          <p:cNvSpPr>
            <a:spLocks noGrp="1"/>
          </p:cNvSpPr>
          <p:nvPr>
            <p:ph type="title"/>
          </p:nvPr>
        </p:nvSpPr>
        <p:spPr>
          <a:xfrm>
            <a:off x="107950" y="160338"/>
            <a:ext cx="8229600" cy="1143000"/>
          </a:xfrm>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Status of Implementation</a:t>
            </a:r>
          </a:p>
        </p:txBody>
      </p:sp>
      <p:sp>
        <p:nvSpPr>
          <p:cNvPr id="15363" name="Content Placeholder 2">
            <a:extLst>
              <a:ext uri="{FF2B5EF4-FFF2-40B4-BE49-F238E27FC236}">
                <a16:creationId xmlns:a16="http://schemas.microsoft.com/office/drawing/2014/main" id="{BB80FD60-322E-50A2-CE45-98E9E428645C}"/>
              </a:ext>
            </a:extLst>
          </p:cNvPr>
          <p:cNvSpPr>
            <a:spLocks noGrp="1"/>
          </p:cNvSpPr>
          <p:nvPr>
            <p:ph idx="1"/>
          </p:nvPr>
        </p:nvSpPr>
        <p:spPr>
          <a:xfrm>
            <a:off x="457200" y="1303338"/>
            <a:ext cx="8229600" cy="5554662"/>
          </a:xfrm>
        </p:spPr>
        <p:txBody>
          <a:bodyPr/>
          <a:lstStyle/>
          <a:p>
            <a:pPr marL="0" indent="0">
              <a:spcBef>
                <a:spcPts val="0"/>
              </a:spcBef>
              <a:spcAft>
                <a:spcPts val="1200"/>
              </a:spcAft>
              <a:buNone/>
            </a:pPr>
            <a:r>
              <a:rPr lang="en-IN" sz="2000" b="1" dirty="0">
                <a:solidFill>
                  <a:schemeClr val="bg2">
                    <a:lumMod val="50000"/>
                  </a:schemeClr>
                </a:solidFill>
                <a:latin typeface="Times New Roman" panose="02020603050405020304" pitchFamily="18" charset="0"/>
                <a:cs typeface="Times New Roman" panose="02020603050405020304" pitchFamily="18" charset="0"/>
              </a:rPr>
              <a:t>Objective–1: Confidentiality of Shared Files ( Status of Implementation )</a:t>
            </a:r>
          </a:p>
          <a:p>
            <a:pPr>
              <a:spcBef>
                <a:spcPts val="0"/>
              </a:spcBef>
              <a:spcAft>
                <a:spcPts val="1200"/>
              </a:spcAf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Implementation:</a:t>
            </a:r>
            <a:r>
              <a:rPr lang="en-IN" sz="2000" dirty="0">
                <a:latin typeface="Times New Roman" panose="02020603050405020304" pitchFamily="18" charset="0"/>
                <a:cs typeface="Times New Roman" panose="02020603050405020304" pitchFamily="18" charset="0"/>
              </a:rPr>
              <a:t> Files are encrypted using </a:t>
            </a:r>
            <a:r>
              <a:rPr lang="en-IN" sz="2000" b="1" dirty="0">
                <a:latin typeface="Times New Roman" panose="02020603050405020304" pitchFamily="18" charset="0"/>
                <a:cs typeface="Times New Roman" panose="02020603050405020304" pitchFamily="18" charset="0"/>
              </a:rPr>
              <a:t>AES-256-CBC with PKCS7 padding</a:t>
            </a:r>
            <a:r>
              <a:rPr lang="en-IN" sz="2000" dirty="0">
                <a:latin typeface="Times New Roman" panose="02020603050405020304" pitchFamily="18" charset="0"/>
                <a:cs typeface="Times New Roman" panose="02020603050405020304" pitchFamily="18" charset="0"/>
              </a:rPr>
              <a:t> before storage. No plaintext file is stored at any stage.</a:t>
            </a:r>
          </a:p>
          <a:p>
            <a:pPr>
              <a:spcBef>
                <a:spcPts val="0"/>
              </a:spcBef>
              <a:spcAft>
                <a:spcPts val="1200"/>
              </a:spcAf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Packages / Libraries:</a:t>
            </a:r>
            <a:r>
              <a:rPr lang="en-IN" sz="2000" dirty="0">
                <a:latin typeface="Times New Roman" panose="02020603050405020304" pitchFamily="18" charset="0"/>
                <a:cs typeface="Times New Roman" panose="02020603050405020304" pitchFamily="18" charset="0"/>
              </a:rPr>
              <a:t> Python cryptography (Cipher, </a:t>
            </a:r>
            <a:r>
              <a:rPr lang="en-IN" sz="2000" dirty="0" err="1">
                <a:latin typeface="Times New Roman" panose="02020603050405020304" pitchFamily="18" charset="0"/>
                <a:cs typeface="Times New Roman" panose="02020603050405020304" pitchFamily="18" charset="0"/>
              </a:rPr>
              <a:t>algorithms.AES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modes.CBC</a:t>
            </a:r>
            <a:r>
              <a:rPr lang="en-IN" sz="2000" dirty="0">
                <a:latin typeface="Times New Roman" panose="02020603050405020304" pitchFamily="18" charset="0"/>
                <a:cs typeface="Times New Roman" panose="02020603050405020304" pitchFamily="18" charset="0"/>
              </a:rPr>
              <a:t>, padding.PKCS7).</a:t>
            </a:r>
          </a:p>
          <a:p>
            <a:pPr>
              <a:spcBef>
                <a:spcPts val="0"/>
              </a:spcBef>
              <a:spcAft>
                <a:spcPts val="1200"/>
              </a:spcAf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Modules / Methods:</a:t>
            </a:r>
            <a:endParaRPr lang="en-IN" sz="2000" dirty="0">
              <a:latin typeface="Times New Roman" panose="02020603050405020304" pitchFamily="18" charset="0"/>
              <a:cs typeface="Times New Roman" panose="02020603050405020304" pitchFamily="18" charset="0"/>
            </a:endParaRPr>
          </a:p>
          <a:p>
            <a:pPr lvl="1">
              <a:spcBef>
                <a:spcPts val="0"/>
              </a:spcBef>
              <a:spcAft>
                <a:spcPts val="1200"/>
              </a:spcAft>
            </a:pPr>
            <a:r>
              <a:rPr lang="en-IN" sz="2000" dirty="0">
                <a:latin typeface="Times New Roman" panose="02020603050405020304" pitchFamily="18" charset="0"/>
                <a:cs typeface="Times New Roman" panose="02020603050405020304" pitchFamily="18" charset="0"/>
              </a:rPr>
              <a:t>AES key generation: </a:t>
            </a:r>
            <a:r>
              <a:rPr lang="en-IN" sz="2000" dirty="0" err="1">
                <a:latin typeface="Times New Roman" panose="02020603050405020304" pitchFamily="18" charset="0"/>
                <a:cs typeface="Times New Roman" panose="02020603050405020304" pitchFamily="18" charset="0"/>
              </a:rPr>
              <a:t>generate_aes_key</a:t>
            </a:r>
            <a:r>
              <a:rPr lang="en-IN" sz="2000" dirty="0">
                <a:latin typeface="Times New Roman" panose="02020603050405020304" pitchFamily="18" charset="0"/>
                <a:cs typeface="Times New Roman" panose="02020603050405020304" pitchFamily="18" charset="0"/>
              </a:rPr>
              <a:t>() (32-byte key)</a:t>
            </a:r>
          </a:p>
          <a:p>
            <a:pPr lvl="1">
              <a:spcBef>
                <a:spcPts val="0"/>
              </a:spcBef>
              <a:spcAft>
                <a:spcPts val="1200"/>
              </a:spcAft>
            </a:pPr>
            <a:r>
              <a:rPr lang="en-IN" sz="2000" dirty="0">
                <a:latin typeface="Times New Roman" panose="02020603050405020304" pitchFamily="18" charset="0"/>
                <a:cs typeface="Times New Roman" panose="02020603050405020304" pitchFamily="18" charset="0"/>
              </a:rPr>
              <a:t>Encryption / Decryption: </a:t>
            </a:r>
            <a:r>
              <a:rPr lang="en-IN" sz="2000" dirty="0" err="1">
                <a:latin typeface="Times New Roman" panose="02020603050405020304" pitchFamily="18" charset="0"/>
                <a:cs typeface="Times New Roman" panose="02020603050405020304" pitchFamily="18" charset="0"/>
              </a:rPr>
              <a:t>encrypt_file</a:t>
            </a:r>
            <a:r>
              <a:rPr lang="en-IN" sz="2000" dirty="0">
                <a:latin typeface="Times New Roman" panose="02020603050405020304" pitchFamily="18" charset="0"/>
                <a:cs typeface="Times New Roman" panose="02020603050405020304" pitchFamily="18" charset="0"/>
              </a:rPr>
              <a:t>() → generates (IV, ciphertext), </a:t>
            </a:r>
            <a:r>
              <a:rPr lang="en-IN" sz="2000" dirty="0" err="1">
                <a:latin typeface="Times New Roman" panose="02020603050405020304" pitchFamily="18" charset="0"/>
                <a:cs typeface="Times New Roman" panose="02020603050405020304" pitchFamily="18" charset="0"/>
              </a:rPr>
              <a:t>decrypt_file</a:t>
            </a:r>
            <a:r>
              <a:rPr lang="en-IN" sz="2000" dirty="0">
                <a:latin typeface="Times New Roman" panose="02020603050405020304" pitchFamily="18" charset="0"/>
                <a:cs typeface="Times New Roman" panose="02020603050405020304" pitchFamily="18" charset="0"/>
              </a:rPr>
              <a:t>()</a:t>
            </a:r>
          </a:p>
          <a:p>
            <a:pPr lvl="1">
              <a:spcBef>
                <a:spcPts val="0"/>
              </a:spcBef>
              <a:spcAft>
                <a:spcPts val="1200"/>
              </a:spcAft>
            </a:pPr>
            <a:r>
              <a:rPr lang="en-IN" sz="2000" dirty="0">
                <a:latin typeface="Times New Roman" panose="02020603050405020304" pitchFamily="18" charset="0"/>
                <a:cs typeface="Times New Roman" panose="02020603050405020304" pitchFamily="18" charset="0"/>
              </a:rPr>
              <a:t>Upload flow: /files/upload encrypts file bytes and stores IV + ciphertext</a:t>
            </a:r>
          </a:p>
          <a:p>
            <a:pPr lvl="1">
              <a:spcBef>
                <a:spcPts val="0"/>
              </a:spcBef>
              <a:spcAft>
                <a:spcPts val="1200"/>
              </a:spcAft>
            </a:pPr>
            <a:r>
              <a:rPr lang="en-IN" sz="2000" dirty="0">
                <a:latin typeface="Times New Roman" panose="02020603050405020304" pitchFamily="18" charset="0"/>
                <a:cs typeface="Times New Roman" panose="02020603050405020304" pitchFamily="18" charset="0"/>
              </a:rPr>
              <a:t>Storage: Encrypted file saved in </a:t>
            </a:r>
            <a:r>
              <a:rPr lang="en-IN" sz="2000" dirty="0" err="1">
                <a:latin typeface="Times New Roman" panose="02020603050405020304" pitchFamily="18" charset="0"/>
                <a:cs typeface="Times New Roman" panose="02020603050405020304" pitchFamily="18" charset="0"/>
              </a:rPr>
              <a:t>encrypted_files</a:t>
            </a:r>
            <a:r>
              <a:rPr lang="en-IN" sz="2000" dirty="0">
                <a:latin typeface="Times New Roman" panose="02020603050405020304" pitchFamily="18" charset="0"/>
                <a:cs typeface="Times New Roman" panose="02020603050405020304" pitchFamily="18" charset="0"/>
              </a:rPr>
              <a:t> directory using a UUID filename</a:t>
            </a:r>
          </a:p>
          <a:p>
            <a:pPr marL="0" indent="0">
              <a:spcBef>
                <a:spcPts val="0"/>
              </a:spcBef>
              <a:spcAft>
                <a:spcPts val="1200"/>
              </a:spcAft>
              <a:buNone/>
            </a:pPr>
            <a:endParaRPr lang="en-IN" altLang="en-US" sz="2000" dirty="0">
              <a:latin typeface="Times New Roman" panose="02020603050405020304" pitchFamily="18" charset="0"/>
              <a:cs typeface="Times New Roman" panose="02020603050405020304" pitchFamily="18" charset="0"/>
            </a:endParaRPr>
          </a:p>
        </p:txBody>
      </p:sp>
      <p:sp>
        <p:nvSpPr>
          <p:cNvPr id="15364" name="Slide Number Placeholder 3">
            <a:extLst>
              <a:ext uri="{FF2B5EF4-FFF2-40B4-BE49-F238E27FC236}">
                <a16:creationId xmlns:a16="http://schemas.microsoft.com/office/drawing/2014/main" id="{00EC9264-7AA0-B2BB-1A69-27B5B3B004C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86E49BA-F886-4C24-9FFC-A5F854A17532}" type="slidenum">
              <a:rPr lang="en-IN" altLang="en-US" sz="1200">
                <a:solidFill>
                  <a:srgbClr val="898989"/>
                </a:solidFill>
              </a:rPr>
              <a:pPr>
                <a:spcBef>
                  <a:spcPct val="0"/>
                </a:spcBef>
                <a:buFontTx/>
                <a:buNone/>
              </a:pPr>
              <a:t>12</a:t>
            </a:fld>
            <a:endParaRPr lang="en-IN" altLang="en-US" sz="1200">
              <a:solidFill>
                <a:srgbClr val="898989"/>
              </a:solidFill>
            </a:endParaRPr>
          </a:p>
        </p:txBody>
      </p:sp>
      <p:pic>
        <p:nvPicPr>
          <p:cNvPr id="15365" name="Picture 2" descr="D:\GITAM-GST-CSE\2024-25\Capstone-Project\GITAM-newlogo.jpeg">
            <a:extLst>
              <a:ext uri="{FF2B5EF4-FFF2-40B4-BE49-F238E27FC236}">
                <a16:creationId xmlns:a16="http://schemas.microsoft.com/office/drawing/2014/main" id="{04B4BB46-82AC-D2CF-CAFB-E743ECF65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D99DE-583E-17EA-5C47-19B4D96C7FD4}"/>
              </a:ext>
            </a:extLst>
          </p:cNvPr>
          <p:cNvSpPr>
            <a:spLocks noGrp="1"/>
          </p:cNvSpPr>
          <p:nvPr>
            <p:ph type="sldNum" sz="quarter" idx="12"/>
          </p:nvPr>
        </p:nvSpPr>
        <p:spPr/>
        <p:txBody>
          <a:bodyPr/>
          <a:lstStyle/>
          <a:p>
            <a:fld id="{69948E53-7DAD-4292-AB41-1CE86D4048C2}" type="slidenum">
              <a:rPr lang="en-IN" altLang="en-US" smtClean="0"/>
              <a:pPr/>
              <a:t>13</a:t>
            </a:fld>
            <a:endParaRPr lang="en-IN" altLang="en-US"/>
          </a:p>
        </p:txBody>
      </p:sp>
      <p:pic>
        <p:nvPicPr>
          <p:cNvPr id="4" name="Picture 3">
            <a:extLst>
              <a:ext uri="{FF2B5EF4-FFF2-40B4-BE49-F238E27FC236}">
                <a16:creationId xmlns:a16="http://schemas.microsoft.com/office/drawing/2014/main" id="{32D3C476-911A-7E59-273F-BB8B82A2ECF9}"/>
              </a:ext>
            </a:extLst>
          </p:cNvPr>
          <p:cNvPicPr>
            <a:picLocks noChangeAspect="1"/>
          </p:cNvPicPr>
          <p:nvPr/>
        </p:nvPicPr>
        <p:blipFill>
          <a:blip r:embed="rId2"/>
          <a:srcRect r="-951" b="24315"/>
          <a:stretch>
            <a:fillRect/>
          </a:stretch>
        </p:blipFill>
        <p:spPr>
          <a:xfrm>
            <a:off x="611560" y="1088753"/>
            <a:ext cx="6615009" cy="2268239"/>
          </a:xfrm>
          <a:prstGeom prst="rect">
            <a:avLst/>
          </a:prstGeom>
        </p:spPr>
      </p:pic>
      <p:pic>
        <p:nvPicPr>
          <p:cNvPr id="6" name="Picture 5">
            <a:extLst>
              <a:ext uri="{FF2B5EF4-FFF2-40B4-BE49-F238E27FC236}">
                <a16:creationId xmlns:a16="http://schemas.microsoft.com/office/drawing/2014/main" id="{B3A7B33D-9F99-18BC-06CA-B4DBFA04C1DF}"/>
              </a:ext>
            </a:extLst>
          </p:cNvPr>
          <p:cNvPicPr>
            <a:picLocks noChangeAspect="1"/>
          </p:cNvPicPr>
          <p:nvPr/>
        </p:nvPicPr>
        <p:blipFill>
          <a:blip r:embed="rId3"/>
          <a:stretch>
            <a:fillRect/>
          </a:stretch>
        </p:blipFill>
        <p:spPr>
          <a:xfrm>
            <a:off x="611560" y="3934647"/>
            <a:ext cx="5496692" cy="2695951"/>
          </a:xfrm>
          <a:prstGeom prst="rect">
            <a:avLst/>
          </a:prstGeom>
        </p:spPr>
      </p:pic>
      <p:sp>
        <p:nvSpPr>
          <p:cNvPr id="7" name="TextBox 6">
            <a:extLst>
              <a:ext uri="{FF2B5EF4-FFF2-40B4-BE49-F238E27FC236}">
                <a16:creationId xmlns:a16="http://schemas.microsoft.com/office/drawing/2014/main" id="{B26EB937-3D4D-33C8-AE31-E29C2EEEA2A9}"/>
              </a:ext>
            </a:extLst>
          </p:cNvPr>
          <p:cNvSpPr txBox="1"/>
          <p:nvPr/>
        </p:nvSpPr>
        <p:spPr>
          <a:xfrm>
            <a:off x="140152" y="653830"/>
            <a:ext cx="5872008" cy="707886"/>
          </a:xfrm>
          <a:prstGeom prst="rect">
            <a:avLst/>
          </a:prstGeom>
          <a:noFill/>
        </p:spPr>
        <p:txBody>
          <a:bodyPr wrap="square" rtlCol="0">
            <a:spAutoFit/>
          </a:bodyPr>
          <a:lstStyle/>
          <a:p>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Fig – 1.1: File upload success message (UI / API).</a:t>
            </a:r>
          </a:p>
          <a:p>
            <a:endParaRPr lang="en-IN" sz="2000" dirty="0"/>
          </a:p>
        </p:txBody>
      </p:sp>
      <p:sp>
        <p:nvSpPr>
          <p:cNvPr id="8" name="TextBox 7">
            <a:extLst>
              <a:ext uri="{FF2B5EF4-FFF2-40B4-BE49-F238E27FC236}">
                <a16:creationId xmlns:a16="http://schemas.microsoft.com/office/drawing/2014/main" id="{4AC24B23-56C4-BF38-0FC4-A98EC0E97829}"/>
              </a:ext>
            </a:extLst>
          </p:cNvPr>
          <p:cNvSpPr txBox="1"/>
          <p:nvPr/>
        </p:nvSpPr>
        <p:spPr>
          <a:xfrm>
            <a:off x="140152" y="3501008"/>
            <a:ext cx="7835158" cy="707886"/>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Fig – 1.2: Newly generated UUID file visible in </a:t>
            </a:r>
            <a:r>
              <a:rPr lang="en-IN" sz="2000" dirty="0" err="1">
                <a:latin typeface="Times New Roman" panose="02020603050405020304" pitchFamily="18" charset="0"/>
                <a:cs typeface="Times New Roman" panose="02020603050405020304" pitchFamily="18" charset="0"/>
              </a:rPr>
              <a:t>encrypted_files</a:t>
            </a:r>
            <a:r>
              <a:rPr lang="en-IN" sz="2000" dirty="0">
                <a:latin typeface="Times New Roman" panose="02020603050405020304" pitchFamily="18" charset="0"/>
                <a:cs typeface="Times New Roman" panose="02020603050405020304" pitchFamily="18" charset="0"/>
              </a:rPr>
              <a:t> directory.</a:t>
            </a:r>
          </a:p>
          <a:p>
            <a:endParaRPr lang="en-IN" sz="2000" dirty="0"/>
          </a:p>
        </p:txBody>
      </p:sp>
      <p:pic>
        <p:nvPicPr>
          <p:cNvPr id="9" name="Picture 2" descr="D:\GITAM-GST-CSE\2024-25\Capstone-Project\GITAM-newlogo.jpeg">
            <a:extLst>
              <a:ext uri="{FF2B5EF4-FFF2-40B4-BE49-F238E27FC236}">
                <a16:creationId xmlns:a16="http://schemas.microsoft.com/office/drawing/2014/main" id="{8FB3B010-5165-B658-ECDD-F0128C7A8D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60A6D163-F4ED-567D-B363-AB81A9726A08}"/>
              </a:ext>
            </a:extLst>
          </p:cNvPr>
          <p:cNvSpPr txBox="1"/>
          <p:nvPr/>
        </p:nvSpPr>
        <p:spPr>
          <a:xfrm>
            <a:off x="353694" y="220925"/>
            <a:ext cx="3358099" cy="430887"/>
          </a:xfrm>
          <a:prstGeom prst="rect">
            <a:avLst/>
          </a:prstGeom>
          <a:noFill/>
        </p:spPr>
        <p:txBody>
          <a:bodyPr wrap="none" rtlCol="0">
            <a:spAutoFit/>
          </a:bodyPr>
          <a:lstStyle/>
          <a:p>
            <a:r>
              <a:rPr lang="en-IN" sz="2200" b="1" dirty="0">
                <a:latin typeface="Times New Roman" panose="02020603050405020304" pitchFamily="18" charset="0"/>
                <a:cs typeface="Times New Roman" panose="02020603050405020304" pitchFamily="18" charset="0"/>
              </a:rPr>
              <a:t>Screenshot (Result Proof):</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5562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AD1355E-3E6A-907D-673D-16ED7CC96821}"/>
              </a:ext>
            </a:extLst>
          </p:cNvPr>
          <p:cNvSpPr>
            <a:spLocks noGrp="1"/>
          </p:cNvSpPr>
          <p:nvPr>
            <p:ph type="title"/>
          </p:nvPr>
        </p:nvSpPr>
        <p:spPr>
          <a:xfrm>
            <a:off x="107950" y="160338"/>
            <a:ext cx="8229600" cy="1143000"/>
          </a:xfrm>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Status of Implementation</a:t>
            </a:r>
          </a:p>
        </p:txBody>
      </p:sp>
      <p:sp>
        <p:nvSpPr>
          <p:cNvPr id="16387" name="Content Placeholder 2">
            <a:extLst>
              <a:ext uri="{FF2B5EF4-FFF2-40B4-BE49-F238E27FC236}">
                <a16:creationId xmlns:a16="http://schemas.microsoft.com/office/drawing/2014/main" id="{69BDFE1C-9EB3-1DEF-2969-DD31596EE126}"/>
              </a:ext>
            </a:extLst>
          </p:cNvPr>
          <p:cNvSpPr>
            <a:spLocks noGrp="1"/>
          </p:cNvSpPr>
          <p:nvPr>
            <p:ph idx="1"/>
          </p:nvPr>
        </p:nvSpPr>
        <p:spPr>
          <a:xfrm>
            <a:off x="457200" y="1165225"/>
            <a:ext cx="8229600" cy="4822825"/>
          </a:xfrm>
        </p:spPr>
        <p:txBody>
          <a:bodyPr/>
          <a:lstStyle/>
          <a:p>
            <a:pPr marL="0" indent="0">
              <a:spcBef>
                <a:spcPts val="0"/>
              </a:spcBef>
              <a:spcAft>
                <a:spcPts val="1200"/>
              </a:spcAft>
              <a:buNone/>
            </a:pPr>
            <a:r>
              <a:rPr lang="en-US" sz="2000" b="1" dirty="0">
                <a:solidFill>
                  <a:schemeClr val="bg2">
                    <a:lumMod val="50000"/>
                  </a:schemeClr>
                </a:solidFill>
                <a:latin typeface="Times New Roman" panose="02020603050405020304" pitchFamily="18" charset="0"/>
                <a:cs typeface="Times New Roman" panose="02020603050405020304" pitchFamily="18" charset="0"/>
              </a:rPr>
              <a:t>Objective–2: Attribute-Based Access Control</a:t>
            </a:r>
            <a:r>
              <a:rPr lang="en-US" sz="2000" dirty="0">
                <a:solidFill>
                  <a:schemeClr val="bg2">
                    <a:lumMod val="50000"/>
                  </a:schemeClr>
                </a:solidFill>
                <a:latin typeface="Times New Roman" panose="02020603050405020304" pitchFamily="18" charset="0"/>
                <a:cs typeface="Times New Roman" panose="02020603050405020304" pitchFamily="18" charset="0"/>
              </a:rPr>
              <a:t> </a:t>
            </a:r>
            <a:r>
              <a:rPr lang="en-US" sz="2000" b="1" dirty="0">
                <a:solidFill>
                  <a:schemeClr val="bg2">
                    <a:lumMod val="50000"/>
                  </a:schemeClr>
                </a:solidFill>
                <a:latin typeface="Times New Roman" panose="02020603050405020304" pitchFamily="18" charset="0"/>
                <a:cs typeface="Times New Roman" panose="02020603050405020304" pitchFamily="18" charset="0"/>
              </a:rPr>
              <a:t>( Status of Implementation )</a:t>
            </a:r>
            <a:endParaRPr lang="en-US" sz="2000" dirty="0">
              <a:solidFill>
                <a:schemeClr val="bg2">
                  <a:lumMod val="50000"/>
                </a:schemeClr>
              </a:solidFill>
              <a:latin typeface="Times New Roman" panose="02020603050405020304" pitchFamily="18" charset="0"/>
              <a:cs typeface="Times New Roman" panose="02020603050405020304" pitchFamily="18" charset="0"/>
            </a:endParaRPr>
          </a:p>
          <a:p>
            <a:pPr>
              <a:spcBef>
                <a:spcPts val="0"/>
              </a:spcBef>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Implementation:</a:t>
            </a:r>
            <a:r>
              <a:rPr lang="en-US" sz="2000" dirty="0">
                <a:latin typeface="Times New Roman" panose="02020603050405020304" pitchFamily="18" charset="0"/>
                <a:cs typeface="Times New Roman" panose="02020603050405020304" pitchFamily="18" charset="0"/>
              </a:rPr>
              <a:t> Each file is protected using an </a:t>
            </a:r>
            <a:r>
              <a:rPr lang="en-US" sz="2000" b="1" dirty="0">
                <a:latin typeface="Times New Roman" panose="02020603050405020304" pitchFamily="18" charset="0"/>
                <a:cs typeface="Times New Roman" panose="02020603050405020304" pitchFamily="18" charset="0"/>
              </a:rPr>
              <a:t>AND/OR attribute-based access policy</a:t>
            </a:r>
            <a:r>
              <a:rPr lang="en-US" sz="2000" dirty="0">
                <a:latin typeface="Times New Roman" panose="02020603050405020304" pitchFamily="18" charset="0"/>
                <a:cs typeface="Times New Roman" panose="02020603050405020304" pitchFamily="18" charset="0"/>
              </a:rPr>
              <a:t>. File download is permitted only when user attributes (</a:t>
            </a:r>
            <a:r>
              <a:rPr lang="en-US" sz="2000" b="1" dirty="0">
                <a:latin typeface="Times New Roman" panose="02020603050405020304" pitchFamily="18" charset="0"/>
                <a:cs typeface="Times New Roman" panose="02020603050405020304" pitchFamily="18" charset="0"/>
              </a:rPr>
              <a:t>role, dept, clearance</a:t>
            </a:r>
            <a:r>
              <a:rPr lang="en-US" sz="2000" dirty="0">
                <a:latin typeface="Times New Roman" panose="02020603050405020304" pitchFamily="18" charset="0"/>
                <a:cs typeface="Times New Roman" panose="02020603050405020304" pitchFamily="18" charset="0"/>
              </a:rPr>
              <a:t>) satisfy the defined policy.</a:t>
            </a:r>
          </a:p>
          <a:p>
            <a:pPr>
              <a:spcBef>
                <a:spcPts val="0"/>
              </a:spcBef>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Packages / Libraries:</a:t>
            </a:r>
            <a:r>
              <a:rPr lang="en-US" sz="2000" dirty="0">
                <a:latin typeface="Times New Roman" panose="02020603050405020304" pitchFamily="18" charset="0"/>
                <a:cs typeface="Times New Roman" panose="02020603050405020304" pitchFamily="18" charset="0"/>
              </a:rPr>
              <a:t> React (policy creation UI), Python backend (policy evaluation and enforcement).</a:t>
            </a:r>
          </a:p>
          <a:p>
            <a:pPr>
              <a:spcBef>
                <a:spcPts val="0"/>
              </a:spcBef>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Modules / Methods:</a:t>
            </a:r>
            <a:endParaRPr lang="en-US" sz="2000" dirty="0">
              <a:latin typeface="Times New Roman" panose="02020603050405020304" pitchFamily="18" charset="0"/>
              <a:cs typeface="Times New Roman" panose="02020603050405020304" pitchFamily="18" charset="0"/>
            </a:endParaRPr>
          </a:p>
          <a:p>
            <a:pPr marL="914400" lvl="1" indent="-457200">
              <a:spcBef>
                <a:spcPts val="0"/>
              </a:spcBef>
              <a:spcAft>
                <a:spcPts val="1200"/>
              </a:spcAft>
              <a:buFont typeface="+mj-lt"/>
              <a:buAutoNum type="arabicPeriod"/>
            </a:pPr>
            <a:r>
              <a:rPr lang="en-US" sz="2000" dirty="0">
                <a:latin typeface="Times New Roman" panose="02020603050405020304" pitchFamily="18" charset="0"/>
                <a:cs typeface="Times New Roman" panose="02020603050405020304" pitchFamily="18" charset="0"/>
              </a:rPr>
              <a:t>Policy creation during upload: Generates policy string such as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role:admin</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role:manager</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dept:IT</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dept:Finance</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clearance:high</a:t>
            </a:r>
            <a:r>
              <a:rPr lang="en-US" sz="2000" dirty="0">
                <a:latin typeface="Times New Roman" panose="02020603050405020304" pitchFamily="18" charset="0"/>
                <a:cs typeface="Times New Roman" panose="02020603050405020304" pitchFamily="18" charset="0"/>
              </a:rPr>
              <a:t>)</a:t>
            </a:r>
          </a:p>
          <a:p>
            <a:pPr marL="914400" lvl="1" indent="-457200">
              <a:spcBef>
                <a:spcPts val="0"/>
              </a:spcBef>
              <a:spcAft>
                <a:spcPts val="1200"/>
              </a:spcAft>
              <a:buFont typeface="+mj-lt"/>
              <a:buAutoNum type="arabicPeriod"/>
            </a:pPr>
            <a:r>
              <a:rPr lang="en-US" sz="2000" dirty="0">
                <a:latin typeface="Times New Roman" panose="02020603050405020304" pitchFamily="18" charset="0"/>
                <a:cs typeface="Times New Roman" panose="02020603050405020304" pitchFamily="18" charset="0"/>
              </a:rPr>
              <a:t>Backend policy validation: </a:t>
            </a:r>
            <a:r>
              <a:rPr lang="en-US" sz="2000" dirty="0" err="1">
                <a:latin typeface="Times New Roman" panose="02020603050405020304" pitchFamily="18" charset="0"/>
                <a:cs typeface="Times New Roman" panose="02020603050405020304" pitchFamily="18" charset="0"/>
              </a:rPr>
              <a:t>policy_satisfied</a:t>
            </a:r>
            <a:r>
              <a:rPr lang="en-US" sz="2000" dirty="0">
                <a:latin typeface="Times New Roman" panose="02020603050405020304" pitchFamily="18" charset="0"/>
                <a:cs typeface="Times New Roman" panose="02020603050405020304" pitchFamily="18" charset="0"/>
              </a:rPr>
              <a:t>(attributes, policy)</a:t>
            </a:r>
          </a:p>
          <a:p>
            <a:pPr marL="914400" lvl="1" indent="-457200">
              <a:spcBef>
                <a:spcPts val="0"/>
              </a:spcBef>
              <a:spcAft>
                <a:spcPts val="1200"/>
              </a:spcAft>
              <a:buFont typeface="+mj-lt"/>
              <a:buAutoNum type="arabicPeriod"/>
            </a:pPr>
            <a:r>
              <a:rPr lang="en-US" sz="2000" dirty="0">
                <a:latin typeface="Times New Roman" panose="02020603050405020304" pitchFamily="18" charset="0"/>
                <a:cs typeface="Times New Roman" panose="02020603050405020304" pitchFamily="18" charset="0"/>
              </a:rPr>
              <a:t>Enforcement point: Download flow blocks access if policy evaluation fails with message </a:t>
            </a:r>
            <a:r>
              <a:rPr lang="en-US" sz="2000" b="1" dirty="0">
                <a:latin typeface="Times New Roman" panose="02020603050405020304" pitchFamily="18" charset="0"/>
                <a:cs typeface="Times New Roman" panose="02020603050405020304" pitchFamily="18" charset="0"/>
              </a:rPr>
              <a:t>“Access denied by policy”</a:t>
            </a:r>
            <a:r>
              <a:rPr lang="en-US" sz="2000" dirty="0">
                <a:latin typeface="Times New Roman" panose="02020603050405020304" pitchFamily="18" charset="0"/>
                <a:cs typeface="Times New Roman" panose="02020603050405020304" pitchFamily="18" charset="0"/>
              </a:rPr>
              <a:t>.</a:t>
            </a:r>
          </a:p>
        </p:txBody>
      </p:sp>
      <p:sp>
        <p:nvSpPr>
          <p:cNvPr id="16388" name="Slide Number Placeholder 3">
            <a:extLst>
              <a:ext uri="{FF2B5EF4-FFF2-40B4-BE49-F238E27FC236}">
                <a16:creationId xmlns:a16="http://schemas.microsoft.com/office/drawing/2014/main" id="{CC61460E-F3C8-62F9-D751-F1CF69A6319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12BF571-94D8-4352-8D43-FF15206C00E9}" type="slidenum">
              <a:rPr lang="en-IN" altLang="en-US" sz="1200">
                <a:solidFill>
                  <a:srgbClr val="898989"/>
                </a:solidFill>
              </a:rPr>
              <a:pPr>
                <a:spcBef>
                  <a:spcPct val="0"/>
                </a:spcBef>
                <a:buFontTx/>
                <a:buNone/>
              </a:pPr>
              <a:t>14</a:t>
            </a:fld>
            <a:endParaRPr lang="en-IN" altLang="en-US" sz="1200">
              <a:solidFill>
                <a:srgbClr val="898989"/>
              </a:solidFill>
            </a:endParaRPr>
          </a:p>
        </p:txBody>
      </p:sp>
      <p:pic>
        <p:nvPicPr>
          <p:cNvPr id="16389" name="Picture 2" descr="D:\GITAM-GST-CSE\2024-25\Capstone-Project\GITAM-newlogo.jpeg">
            <a:extLst>
              <a:ext uri="{FF2B5EF4-FFF2-40B4-BE49-F238E27FC236}">
                <a16:creationId xmlns:a16="http://schemas.microsoft.com/office/drawing/2014/main" id="{AA5D9D94-DF96-C8D5-5A06-CFC44A30D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E2F8A3-D6F0-D4AB-F4F3-13374F5E10EB}"/>
              </a:ext>
            </a:extLst>
          </p:cNvPr>
          <p:cNvSpPr>
            <a:spLocks noGrp="1"/>
          </p:cNvSpPr>
          <p:nvPr>
            <p:ph type="sldNum" sz="quarter" idx="12"/>
          </p:nvPr>
        </p:nvSpPr>
        <p:spPr/>
        <p:txBody>
          <a:bodyPr/>
          <a:lstStyle/>
          <a:p>
            <a:fld id="{69948E53-7DAD-4292-AB41-1CE86D4048C2}" type="slidenum">
              <a:rPr lang="en-IN" altLang="en-US" smtClean="0"/>
              <a:pPr/>
              <a:t>15</a:t>
            </a:fld>
            <a:endParaRPr lang="en-IN" altLang="en-US"/>
          </a:p>
        </p:txBody>
      </p:sp>
      <p:pic>
        <p:nvPicPr>
          <p:cNvPr id="4" name="Picture 3">
            <a:extLst>
              <a:ext uri="{FF2B5EF4-FFF2-40B4-BE49-F238E27FC236}">
                <a16:creationId xmlns:a16="http://schemas.microsoft.com/office/drawing/2014/main" id="{5D860F9D-2B0D-393F-7948-4CEED4279319}"/>
              </a:ext>
            </a:extLst>
          </p:cNvPr>
          <p:cNvPicPr>
            <a:picLocks noChangeAspect="1"/>
          </p:cNvPicPr>
          <p:nvPr/>
        </p:nvPicPr>
        <p:blipFill>
          <a:blip r:embed="rId2"/>
          <a:srcRect r="212" b="4171"/>
          <a:stretch>
            <a:fillRect/>
          </a:stretch>
        </p:blipFill>
        <p:spPr>
          <a:xfrm>
            <a:off x="683568" y="1267774"/>
            <a:ext cx="6761843" cy="2593432"/>
          </a:xfrm>
          <a:prstGeom prst="rect">
            <a:avLst/>
          </a:prstGeom>
        </p:spPr>
      </p:pic>
      <p:sp>
        <p:nvSpPr>
          <p:cNvPr id="5" name="TextBox 4">
            <a:extLst>
              <a:ext uri="{FF2B5EF4-FFF2-40B4-BE49-F238E27FC236}">
                <a16:creationId xmlns:a16="http://schemas.microsoft.com/office/drawing/2014/main" id="{40958D28-D2A2-8167-DE71-4FA3410F2B04}"/>
              </a:ext>
            </a:extLst>
          </p:cNvPr>
          <p:cNvSpPr txBox="1"/>
          <p:nvPr/>
        </p:nvSpPr>
        <p:spPr>
          <a:xfrm>
            <a:off x="236050" y="545688"/>
            <a:ext cx="6804025"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 – 2.1: Upload page showing selected attributes and generated access policy (“Who can access?”) .</a:t>
            </a:r>
          </a:p>
          <a:p>
            <a:pPr marL="342900" indent="-342900">
              <a:buFont typeface="+mj-lt"/>
              <a:buAutoNum type="arabicPeriod"/>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E53346A-575D-D1D6-A6E7-63083F5D9CAD}"/>
              </a:ext>
            </a:extLst>
          </p:cNvPr>
          <p:cNvPicPr>
            <a:picLocks noChangeAspect="1"/>
          </p:cNvPicPr>
          <p:nvPr/>
        </p:nvPicPr>
        <p:blipFill>
          <a:blip r:embed="rId3"/>
          <a:srcRect l="-4122" t="-5591" r="4277" b="50000"/>
          <a:stretch>
            <a:fillRect/>
          </a:stretch>
        </p:blipFill>
        <p:spPr>
          <a:xfrm>
            <a:off x="683568" y="4781297"/>
            <a:ext cx="6543071" cy="1757615"/>
          </a:xfrm>
          <a:prstGeom prst="rect">
            <a:avLst/>
          </a:prstGeom>
        </p:spPr>
      </p:pic>
      <p:sp>
        <p:nvSpPr>
          <p:cNvPr id="8" name="TextBox 7">
            <a:extLst>
              <a:ext uri="{FF2B5EF4-FFF2-40B4-BE49-F238E27FC236}">
                <a16:creationId xmlns:a16="http://schemas.microsoft.com/office/drawing/2014/main" id="{5B2E55DE-A89F-2FCF-41DB-2FCFBBA13474}"/>
              </a:ext>
            </a:extLst>
          </p:cNvPr>
          <p:cNvSpPr txBox="1"/>
          <p:nvPr/>
        </p:nvSpPr>
        <p:spPr>
          <a:xfrm>
            <a:off x="337701" y="3918852"/>
            <a:ext cx="812273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Fig – 2.2: Failed access attempt showing </a:t>
            </a:r>
            <a:r>
              <a:rPr lang="en-US" sz="2000" b="1" dirty="0">
                <a:latin typeface="Times New Roman" panose="02020603050405020304" pitchFamily="18" charset="0"/>
                <a:cs typeface="Times New Roman" panose="02020603050405020304" pitchFamily="18" charset="0"/>
              </a:rPr>
              <a:t>Access denied</a:t>
            </a:r>
            <a:r>
              <a:rPr lang="en-US" sz="2000" dirty="0">
                <a:latin typeface="Times New Roman" panose="02020603050405020304" pitchFamily="18" charset="0"/>
                <a:cs typeface="Times New Roman" panose="02020603050405020304" pitchFamily="18" charset="0"/>
              </a:rPr>
              <a:t> alert for a user with               mismatching attributes.</a:t>
            </a:r>
            <a:endParaRPr lang="en-IN" sz="2000" dirty="0">
              <a:latin typeface="Times New Roman" panose="02020603050405020304" pitchFamily="18" charset="0"/>
              <a:cs typeface="Times New Roman" panose="02020603050405020304" pitchFamily="18" charset="0"/>
            </a:endParaRPr>
          </a:p>
        </p:txBody>
      </p:sp>
      <p:pic>
        <p:nvPicPr>
          <p:cNvPr id="9" name="Picture 2" descr="D:\GITAM-GST-CSE\2024-25\Capstone-Project\GITAM-newlogo.jpeg">
            <a:extLst>
              <a:ext uri="{FF2B5EF4-FFF2-40B4-BE49-F238E27FC236}">
                <a16:creationId xmlns:a16="http://schemas.microsoft.com/office/drawing/2014/main" id="{D5E84F36-81BC-2FBA-B57C-F43DFE2940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AFC8FF1-C6F5-C361-0521-AFD82D239ED9}"/>
              </a:ext>
            </a:extLst>
          </p:cNvPr>
          <p:cNvSpPr txBox="1"/>
          <p:nvPr/>
        </p:nvSpPr>
        <p:spPr>
          <a:xfrm>
            <a:off x="251520" y="116632"/>
            <a:ext cx="3467103" cy="769441"/>
          </a:xfrm>
          <a:prstGeom prst="rect">
            <a:avLst/>
          </a:prstGeom>
          <a:noFill/>
        </p:spPr>
        <p:txBody>
          <a:bodyPr wrap="none" rtlCol="0">
            <a:spAutoFit/>
          </a:bodyPr>
          <a:lstStyle/>
          <a:p>
            <a:r>
              <a:rPr lang="en-US" sz="2200" b="1" dirty="0">
                <a:latin typeface="Times New Roman" panose="02020603050405020304" pitchFamily="18" charset="0"/>
                <a:cs typeface="Times New Roman" panose="02020603050405020304" pitchFamily="18" charset="0"/>
              </a:rPr>
              <a:t>Screenshots (Result Proof):</a:t>
            </a:r>
            <a:endParaRPr lang="en-US" sz="2200" dirty="0">
              <a:latin typeface="Times New Roman" panose="02020603050405020304" pitchFamily="18" charset="0"/>
              <a:cs typeface="Times New Roman" panose="02020603050405020304" pitchFamily="18" charset="0"/>
            </a:endParaRPr>
          </a:p>
          <a:p>
            <a:endParaRPr lang="en-IN" sz="2200" dirty="0"/>
          </a:p>
        </p:txBody>
      </p:sp>
    </p:spTree>
    <p:extLst>
      <p:ext uri="{BB962C8B-B14F-4D97-AF65-F5344CB8AC3E}">
        <p14:creationId xmlns:p14="http://schemas.microsoft.com/office/powerpoint/2010/main" val="2835773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1EBD14ED-F114-7F9E-0BAF-A8D9BABA0A3C}"/>
              </a:ext>
            </a:extLst>
          </p:cNvPr>
          <p:cNvSpPr>
            <a:spLocks noGrp="1"/>
          </p:cNvSpPr>
          <p:nvPr>
            <p:ph type="title"/>
          </p:nvPr>
        </p:nvSpPr>
        <p:spPr>
          <a:xfrm>
            <a:off x="107950" y="160338"/>
            <a:ext cx="8229600" cy="1143000"/>
          </a:xfrm>
        </p:spPr>
        <p:txBody>
          <a:bodyPr/>
          <a:lstStyle/>
          <a:p>
            <a:r>
              <a:rPr lang="en-IN" altLang="en-US" sz="2800" b="1" dirty="0">
                <a:solidFill>
                  <a:srgbClr val="00B050"/>
                </a:solidFill>
                <a:latin typeface="Times New Roman" panose="02020603050405020304" pitchFamily="18" charset="0"/>
                <a:cs typeface="Times New Roman" panose="02020603050405020304" pitchFamily="18" charset="0"/>
              </a:rPr>
              <a:t>Status of Implementation</a:t>
            </a:r>
          </a:p>
        </p:txBody>
      </p:sp>
      <p:sp>
        <p:nvSpPr>
          <p:cNvPr id="17411" name="Content Placeholder 2">
            <a:extLst>
              <a:ext uri="{FF2B5EF4-FFF2-40B4-BE49-F238E27FC236}">
                <a16:creationId xmlns:a16="http://schemas.microsoft.com/office/drawing/2014/main" id="{0F8377C9-82AE-85BA-0201-C7EBC0AB52A3}"/>
              </a:ext>
            </a:extLst>
          </p:cNvPr>
          <p:cNvSpPr>
            <a:spLocks noGrp="1"/>
          </p:cNvSpPr>
          <p:nvPr>
            <p:ph idx="1"/>
          </p:nvPr>
        </p:nvSpPr>
        <p:spPr>
          <a:xfrm>
            <a:off x="215739" y="1122364"/>
            <a:ext cx="8712522" cy="4525963"/>
          </a:xfrm>
        </p:spPr>
        <p:txBody>
          <a:bodyPr/>
          <a:lstStyle/>
          <a:p>
            <a:pPr marL="0" indent="0">
              <a:spcBef>
                <a:spcPts val="0"/>
              </a:spcBef>
              <a:spcAft>
                <a:spcPts val="1200"/>
              </a:spcAft>
              <a:buNone/>
            </a:pPr>
            <a:r>
              <a:rPr lang="en-US" sz="2000" b="1" dirty="0">
                <a:solidFill>
                  <a:schemeClr val="bg2">
                    <a:lumMod val="50000"/>
                  </a:schemeClr>
                </a:solidFill>
                <a:latin typeface="Times New Roman" panose="02020603050405020304" pitchFamily="18" charset="0"/>
                <a:cs typeface="Times New Roman" panose="02020603050405020304" pitchFamily="18" charset="0"/>
              </a:rPr>
              <a:t>Objective–3: Decentralized approval before decryption</a:t>
            </a:r>
          </a:p>
          <a:p>
            <a:pPr marL="0" indent="0">
              <a:spcBef>
                <a:spcPts val="0"/>
              </a:spcBef>
              <a:spcAft>
                <a:spcPts val="1200"/>
              </a:spcAft>
              <a:buNone/>
            </a:pPr>
            <a:r>
              <a:rPr lang="en-US" sz="2000" b="1" dirty="0">
                <a:solidFill>
                  <a:schemeClr val="bg2">
                    <a:lumMod val="50000"/>
                  </a:schemeClr>
                </a:solidFill>
                <a:latin typeface="Times New Roman" panose="02020603050405020304" pitchFamily="18" charset="0"/>
                <a:cs typeface="Times New Roman" panose="02020603050405020304" pitchFamily="18" charset="0"/>
              </a:rPr>
              <a:t>( Status of Implementation )</a:t>
            </a:r>
          </a:p>
          <a:p>
            <a:pPr>
              <a:spcBef>
                <a:spcPts val="0"/>
              </a:spcBef>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Implementation:</a:t>
            </a:r>
            <a:r>
              <a:rPr lang="en-US" sz="2000" dirty="0">
                <a:latin typeface="Times New Roman" panose="02020603050405020304" pitchFamily="18" charset="0"/>
                <a:cs typeface="Times New Roman" panose="02020603050405020304" pitchFamily="18" charset="0"/>
              </a:rPr>
              <a:t> For every file access request, the system generates a unique </a:t>
            </a:r>
            <a:r>
              <a:rPr lang="en-US" sz="2000" b="1" dirty="0" err="1">
                <a:latin typeface="Times New Roman" panose="02020603050405020304" pitchFamily="18" charset="0"/>
                <a:cs typeface="Times New Roman" panose="02020603050405020304" pitchFamily="18" charset="0"/>
              </a:rPr>
              <a:t>key_id</a:t>
            </a:r>
            <a:r>
              <a:rPr lang="en-US" sz="2000" dirty="0">
                <a:latin typeface="Times New Roman" panose="02020603050405020304" pitchFamily="18" charset="0"/>
                <a:cs typeface="Times New Roman" panose="02020603050405020304" pitchFamily="18" charset="0"/>
              </a:rPr>
              <a:t> and enforces </a:t>
            </a:r>
            <a:r>
              <a:rPr lang="en-US" sz="2000" b="1" dirty="0">
                <a:latin typeface="Times New Roman" panose="02020603050405020304" pitchFamily="18" charset="0"/>
                <a:cs typeface="Times New Roman" panose="02020603050405020304" pitchFamily="18" charset="0"/>
              </a:rPr>
              <a:t>4-of-7 authority approvals</a:t>
            </a:r>
            <a:r>
              <a:rPr lang="en-US" sz="2000" dirty="0">
                <a:latin typeface="Times New Roman" panose="02020603050405020304" pitchFamily="18" charset="0"/>
                <a:cs typeface="Times New Roman" panose="02020603050405020304" pitchFamily="18" charset="0"/>
              </a:rPr>
              <a:t> on blockchain (Ganache). File download and decryption are allowed only when the smart contract confirms that the threshold is reached.</a:t>
            </a:r>
          </a:p>
          <a:p>
            <a:pPr>
              <a:lnSpc>
                <a:spcPct val="150000"/>
              </a:lnSpc>
              <a:spcBef>
                <a:spcPts val="0"/>
              </a:spcBef>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Packages/Libraries:</a:t>
            </a:r>
            <a:endParaRPr lang="en-US" sz="2000" dirty="0">
              <a:latin typeface="Times New Roman" panose="02020603050405020304" pitchFamily="18" charset="0"/>
              <a:cs typeface="Times New Roman" panose="02020603050405020304" pitchFamily="18" charset="0"/>
            </a:endParaRPr>
          </a:p>
          <a:p>
            <a:pPr marL="914400" lvl="1" indent="-457200">
              <a:spcBef>
                <a:spcPts val="0"/>
              </a:spcBef>
              <a:spcAft>
                <a:spcPts val="1200"/>
              </a:spcAft>
              <a:buFont typeface="+mj-lt"/>
              <a:buAutoNum type="arabicPeriod"/>
            </a:pPr>
            <a:r>
              <a:rPr lang="en-US" sz="2000" b="1" dirty="0">
                <a:latin typeface="Times New Roman" panose="02020603050405020304" pitchFamily="18" charset="0"/>
                <a:cs typeface="Times New Roman" panose="02020603050405020304" pitchFamily="18" charset="0"/>
              </a:rPr>
              <a:t>Solidity</a:t>
            </a:r>
            <a:r>
              <a:rPr lang="en-US" sz="2000" dirty="0">
                <a:latin typeface="Times New Roman" panose="02020603050405020304" pitchFamily="18" charset="0"/>
                <a:cs typeface="Times New Roman" panose="02020603050405020304" pitchFamily="18" charset="0"/>
              </a:rPr>
              <a:t> smart contract (threshold voting)</a:t>
            </a:r>
          </a:p>
          <a:p>
            <a:pPr marL="914400" lvl="1" indent="-457200">
              <a:spcBef>
                <a:spcPts val="0"/>
              </a:spcBef>
              <a:spcAft>
                <a:spcPts val="1200"/>
              </a:spcAft>
              <a:buFont typeface="+mj-lt"/>
              <a:buAutoNum type="arabicPeriod"/>
            </a:pPr>
            <a:r>
              <a:rPr lang="en-US" sz="2000" b="1" dirty="0">
                <a:latin typeface="Times New Roman" panose="02020603050405020304" pitchFamily="18" charset="0"/>
                <a:cs typeface="Times New Roman" panose="02020603050405020304" pitchFamily="18" charset="0"/>
              </a:rPr>
              <a:t>web3.py</a:t>
            </a:r>
            <a:r>
              <a:rPr lang="en-US" sz="2000" dirty="0">
                <a:latin typeface="Times New Roman" panose="02020603050405020304" pitchFamily="18" charset="0"/>
                <a:cs typeface="Times New Roman" panose="02020603050405020304" pitchFamily="18" charset="0"/>
              </a:rPr>
              <a:t> (Python) for blockchain interaction</a:t>
            </a:r>
          </a:p>
          <a:p>
            <a:pPr marL="914400" lvl="1" indent="-457200">
              <a:spcBef>
                <a:spcPts val="0"/>
              </a:spcBef>
              <a:spcAft>
                <a:spcPts val="1200"/>
              </a:spcAft>
              <a:buFont typeface="+mj-lt"/>
              <a:buAutoNum type="arabicPeriod"/>
            </a:pPr>
            <a:r>
              <a:rPr lang="en-US" sz="2000" dirty="0">
                <a:latin typeface="Times New Roman" panose="02020603050405020304" pitchFamily="18" charset="0"/>
                <a:cs typeface="Times New Roman" panose="02020603050405020304" pitchFamily="18" charset="0"/>
              </a:rPr>
              <a:t>eth-account for signature and message handling (used in access verification flow)</a:t>
            </a:r>
          </a:p>
        </p:txBody>
      </p:sp>
      <p:sp>
        <p:nvSpPr>
          <p:cNvPr id="17412" name="Slide Number Placeholder 3">
            <a:extLst>
              <a:ext uri="{FF2B5EF4-FFF2-40B4-BE49-F238E27FC236}">
                <a16:creationId xmlns:a16="http://schemas.microsoft.com/office/drawing/2014/main" id="{17AAEF52-6889-F5AC-2013-8AD17D5BF3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BC53BE-477E-420A-BD3B-3F6806ACFD08}" type="slidenum">
              <a:rPr lang="en-IN" altLang="en-US" sz="1200">
                <a:solidFill>
                  <a:srgbClr val="898989"/>
                </a:solidFill>
              </a:rPr>
              <a:pPr>
                <a:spcBef>
                  <a:spcPct val="0"/>
                </a:spcBef>
                <a:buFontTx/>
                <a:buNone/>
              </a:pPr>
              <a:t>16</a:t>
            </a:fld>
            <a:endParaRPr lang="en-IN" altLang="en-US" sz="1200" dirty="0">
              <a:solidFill>
                <a:srgbClr val="898989"/>
              </a:solidFill>
            </a:endParaRPr>
          </a:p>
        </p:txBody>
      </p:sp>
      <p:pic>
        <p:nvPicPr>
          <p:cNvPr id="17413" name="Picture 2" descr="D:\GITAM-GST-CSE\2024-25\Capstone-Project\GITAM-newlogo.jpeg">
            <a:extLst>
              <a:ext uri="{FF2B5EF4-FFF2-40B4-BE49-F238E27FC236}">
                <a16:creationId xmlns:a16="http://schemas.microsoft.com/office/drawing/2014/main" id="{AB8D1C82-034C-FF2F-387F-85B15A850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91B201-D842-6E94-53F1-55FBAAEC86DE}"/>
              </a:ext>
            </a:extLst>
          </p:cNvPr>
          <p:cNvSpPr>
            <a:spLocks noGrp="1"/>
          </p:cNvSpPr>
          <p:nvPr>
            <p:ph type="sldNum" sz="quarter" idx="12"/>
          </p:nvPr>
        </p:nvSpPr>
        <p:spPr/>
        <p:txBody>
          <a:bodyPr/>
          <a:lstStyle/>
          <a:p>
            <a:fld id="{69948E53-7DAD-4292-AB41-1CE86D4048C2}" type="slidenum">
              <a:rPr lang="en-IN" altLang="en-US" smtClean="0"/>
              <a:pPr/>
              <a:t>17</a:t>
            </a:fld>
            <a:endParaRPr lang="en-IN" altLang="en-US"/>
          </a:p>
        </p:txBody>
      </p:sp>
      <p:sp>
        <p:nvSpPr>
          <p:cNvPr id="3" name="TextBox 2">
            <a:extLst>
              <a:ext uri="{FF2B5EF4-FFF2-40B4-BE49-F238E27FC236}">
                <a16:creationId xmlns:a16="http://schemas.microsoft.com/office/drawing/2014/main" id="{BC9CB2E5-F6E1-6B7A-83C5-1467946D8816}"/>
              </a:ext>
            </a:extLst>
          </p:cNvPr>
          <p:cNvSpPr txBox="1"/>
          <p:nvPr/>
        </p:nvSpPr>
        <p:spPr>
          <a:xfrm>
            <a:off x="-396552" y="548680"/>
            <a:ext cx="9721080" cy="7632859"/>
          </a:xfrm>
          <a:prstGeom prst="rect">
            <a:avLst/>
          </a:prstGeom>
          <a:noFill/>
        </p:spPr>
        <p:txBody>
          <a:bodyPr wrap="square" rtlCol="0">
            <a:spAutoFit/>
          </a:bodyPr>
          <a:lstStyle/>
          <a:p>
            <a:pPr marL="800100" lvl="1" indent="-342900">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Modules/Methods:</a:t>
            </a:r>
            <a:endParaRPr lang="en-US" sz="2000" dirty="0">
              <a:latin typeface="Times New Roman" panose="02020603050405020304" pitchFamily="18" charset="0"/>
              <a:cs typeface="Times New Roman" panose="02020603050405020304" pitchFamily="18" charset="0"/>
            </a:endParaRPr>
          </a:p>
          <a:p>
            <a:pPr lvl="2">
              <a:spcAft>
                <a:spcPts val="1200"/>
              </a:spcAft>
            </a:pPr>
            <a:r>
              <a:rPr lang="en-US" sz="2000" b="1" dirty="0">
                <a:latin typeface="Times New Roman" panose="02020603050405020304" pitchFamily="18" charset="0"/>
                <a:cs typeface="Times New Roman" panose="02020603050405020304" pitchFamily="18" charset="0"/>
              </a:rPr>
              <a:t>Smart contract: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KeyAuthority.sol</a:t>
            </a:r>
            <a:endParaRPr lang="en-US" sz="2000" dirty="0">
              <a:latin typeface="Times New Roman" panose="02020603050405020304" pitchFamily="18" charset="0"/>
              <a:cs typeface="Times New Roman" panose="02020603050405020304" pitchFamily="18" charset="0"/>
            </a:endParaRPr>
          </a:p>
          <a:p>
            <a:pPr lvl="2">
              <a:spcAft>
                <a:spcPts val="1200"/>
              </a:spcAft>
            </a:pPr>
            <a:r>
              <a:rPr lang="en-US" sz="2000" dirty="0" err="1">
                <a:latin typeface="Times New Roman" panose="02020603050405020304" pitchFamily="18" charset="0"/>
                <a:cs typeface="Times New Roman" panose="02020603050405020304" pitchFamily="18" charset="0"/>
              </a:rPr>
              <a:t>approveKey</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keyId</a:t>
            </a:r>
            <a:r>
              <a:rPr lang="en-US" sz="2000" dirty="0">
                <a:latin typeface="Times New Roman" panose="02020603050405020304" pitchFamily="18" charset="0"/>
                <a:cs typeface="Times New Roman" panose="02020603050405020304" pitchFamily="18" charset="0"/>
              </a:rPr>
              <a:t>) – authority submits approval</a:t>
            </a:r>
          </a:p>
          <a:p>
            <a:pPr lvl="2">
              <a:spcAft>
                <a:spcPts val="1200"/>
              </a:spcAft>
            </a:pPr>
            <a:r>
              <a:rPr lang="en-US" sz="2000" dirty="0" err="1">
                <a:latin typeface="Times New Roman" panose="02020603050405020304" pitchFamily="18" charset="0"/>
                <a:cs typeface="Times New Roman" panose="02020603050405020304" pitchFamily="18" charset="0"/>
              </a:rPr>
              <a:t>isApproved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keyId</a:t>
            </a:r>
            <a:r>
              <a:rPr lang="en-US" sz="2000" dirty="0">
                <a:latin typeface="Times New Roman" panose="02020603050405020304" pitchFamily="18" charset="0"/>
                <a:cs typeface="Times New Roman" panose="02020603050405020304" pitchFamily="18" charset="0"/>
              </a:rPr>
              <a:t>) – returns true when approvals ≥ threshold</a:t>
            </a:r>
            <a:endParaRPr lang="en-US" sz="2000" b="1" dirty="0">
              <a:latin typeface="Times New Roman" panose="02020603050405020304" pitchFamily="18" charset="0"/>
              <a:cs typeface="Times New Roman" panose="02020603050405020304" pitchFamily="18" charset="0"/>
            </a:endParaRPr>
          </a:p>
          <a:p>
            <a:pPr marL="800100" lvl="1" indent="-342900">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Backend blockchain service:</a:t>
            </a:r>
            <a:r>
              <a:rPr lang="en-US" sz="2000" dirty="0">
                <a:latin typeface="Times New Roman" panose="02020603050405020304" pitchFamily="18" charset="0"/>
                <a:cs typeface="Times New Roman" panose="02020603050405020304" pitchFamily="18" charset="0"/>
              </a:rPr>
              <a:t> blockchain_auth.py</a:t>
            </a:r>
          </a:p>
          <a:p>
            <a:pPr lvl="2">
              <a:spcAft>
                <a:spcPts val="1200"/>
              </a:spcAft>
            </a:pPr>
            <a:r>
              <a:rPr lang="en-US" sz="2000" dirty="0" err="1">
                <a:latin typeface="Times New Roman" panose="02020603050405020304" pitchFamily="18" charset="0"/>
                <a:cs typeface="Times New Roman" panose="02020603050405020304" pitchFamily="18" charset="0"/>
              </a:rPr>
              <a:t>initiate_key_approval</a:t>
            </a:r>
            <a:r>
              <a:rPr lang="en-US" sz="2000" dirty="0">
                <a:latin typeface="Times New Roman" panose="02020603050405020304" pitchFamily="18" charset="0"/>
                <a:cs typeface="Times New Roman" panose="02020603050405020304" pitchFamily="18" charset="0"/>
              </a:rPr>
              <a:t>() – creates approval request and returns </a:t>
            </a:r>
            <a:r>
              <a:rPr lang="en-US" sz="2000" dirty="0" err="1">
                <a:latin typeface="Times New Roman" panose="02020603050405020304" pitchFamily="18" charset="0"/>
                <a:cs typeface="Times New Roman" panose="02020603050405020304" pitchFamily="18" charset="0"/>
              </a:rPr>
              <a:t>key_id</a:t>
            </a:r>
            <a:endParaRPr lang="en-US" sz="2000" dirty="0">
              <a:latin typeface="Times New Roman" panose="02020603050405020304" pitchFamily="18" charset="0"/>
              <a:cs typeface="Times New Roman" panose="02020603050405020304" pitchFamily="18" charset="0"/>
            </a:endParaRPr>
          </a:p>
          <a:p>
            <a:pPr lvl="2">
              <a:spcAft>
                <a:spcPts val="1200"/>
              </a:spcAft>
            </a:pPr>
            <a:r>
              <a:rPr lang="en-US" sz="2000" dirty="0" err="1">
                <a:latin typeface="Times New Roman" panose="02020603050405020304" pitchFamily="18" charset="0"/>
                <a:cs typeface="Times New Roman" panose="02020603050405020304" pitchFamily="18" charset="0"/>
              </a:rPr>
              <a:t>approve_key</a:t>
            </a:r>
            <a:r>
              <a:rPr lang="en-US" sz="2000" dirty="0">
                <a:latin typeface="Times New Roman" panose="02020603050405020304" pitchFamily="18" charset="0"/>
                <a:cs typeface="Times New Roman" panose="02020603050405020304" pitchFamily="18" charset="0"/>
              </a:rPr>
              <a:t>() – submits approval transaction (demo simulation)</a:t>
            </a:r>
          </a:p>
          <a:p>
            <a:pPr lvl="2">
              <a:spcAft>
                <a:spcPts val="1200"/>
              </a:spcAft>
            </a:pPr>
            <a:r>
              <a:rPr lang="en-US" sz="2000" dirty="0" err="1">
                <a:latin typeface="Times New Roman" panose="02020603050405020304" pitchFamily="18" charset="0"/>
                <a:cs typeface="Times New Roman" panose="02020603050405020304" pitchFamily="18" charset="0"/>
              </a:rPr>
              <a:t>verify_approval</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get_approval_status</a:t>
            </a:r>
            <a:r>
              <a:rPr lang="en-US" sz="2000" dirty="0">
                <a:latin typeface="Times New Roman" panose="02020603050405020304" pitchFamily="18" charset="0"/>
                <a:cs typeface="Times New Roman" panose="02020603050405020304" pitchFamily="18" charset="0"/>
              </a:rPr>
              <a:t>() – checks approval status from smart contract</a:t>
            </a:r>
            <a:endParaRPr lang="en-US" sz="2000" b="1" dirty="0">
              <a:latin typeface="Times New Roman" panose="02020603050405020304" pitchFamily="18" charset="0"/>
              <a:cs typeface="Times New Roman" panose="02020603050405020304" pitchFamily="18" charset="0"/>
            </a:endParaRPr>
          </a:p>
          <a:p>
            <a:pPr marL="800100" lvl="1" indent="-342900">
              <a:spcAft>
                <a:spcPts val="12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API endpoints:</a:t>
            </a:r>
            <a:endParaRPr lang="en-US" sz="2000" dirty="0">
              <a:latin typeface="Times New Roman" panose="02020603050405020304" pitchFamily="18" charset="0"/>
              <a:cs typeface="Times New Roman" panose="02020603050405020304" pitchFamily="18" charset="0"/>
            </a:endParaRPr>
          </a:p>
          <a:p>
            <a:pPr lvl="2">
              <a:spcAft>
                <a:spcPts val="1200"/>
              </a:spcAft>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api</a:t>
            </a:r>
            <a:r>
              <a:rPr lang="en-US" sz="2000" dirty="0">
                <a:latin typeface="Times New Roman" panose="02020603050405020304" pitchFamily="18" charset="0"/>
                <a:cs typeface="Times New Roman" panose="02020603050405020304" pitchFamily="18" charset="0"/>
              </a:rPr>
              <a:t>/access/request-key-approval – creates approval request</a:t>
            </a:r>
          </a:p>
          <a:p>
            <a:pPr lvl="2">
              <a:spcAft>
                <a:spcPts val="1200"/>
              </a:spcAft>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api</a:t>
            </a:r>
            <a:r>
              <a:rPr lang="en-US" sz="2000" dirty="0">
                <a:latin typeface="Times New Roman" panose="02020603050405020304" pitchFamily="18" charset="0"/>
                <a:cs typeface="Times New Roman" panose="02020603050405020304" pitchFamily="18" charset="0"/>
              </a:rPr>
              <a:t>/access/simulate-approvals – submits 4 approval transactions for demo</a:t>
            </a:r>
          </a:p>
          <a:p>
            <a:pPr lvl="2">
              <a:spcAft>
                <a:spcPts val="1200"/>
              </a:spcAft>
            </a:pP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api</a:t>
            </a:r>
            <a:r>
              <a:rPr lang="en-US" sz="2000" dirty="0">
                <a:latin typeface="Times New Roman" panose="02020603050405020304" pitchFamily="18" charset="0"/>
                <a:cs typeface="Times New Roman" panose="02020603050405020304" pitchFamily="18" charset="0"/>
              </a:rPr>
              <a:t>/access/approval-status/{</a:t>
            </a:r>
            <a:r>
              <a:rPr lang="en-US" sz="2000" dirty="0" err="1">
                <a:latin typeface="Times New Roman" panose="02020603050405020304" pitchFamily="18" charset="0"/>
                <a:cs typeface="Times New Roman" panose="02020603050405020304" pitchFamily="18" charset="0"/>
              </a:rPr>
              <a:t>key_id</a:t>
            </a:r>
            <a:r>
              <a:rPr lang="en-US" sz="2000" dirty="0">
                <a:latin typeface="Times New Roman" panose="02020603050405020304" pitchFamily="18" charset="0"/>
                <a:cs typeface="Times New Roman" panose="02020603050405020304" pitchFamily="18" charset="0"/>
              </a:rPr>
              <a:t>} – shows current approval count</a:t>
            </a:r>
          </a:p>
          <a:p>
            <a:pPr lvl="2">
              <a:spcAft>
                <a:spcPts val="1200"/>
              </a:spcAft>
            </a:pPr>
            <a:r>
              <a:rPr lang="en-US" sz="2000" dirty="0">
                <a:latin typeface="Times New Roman" panose="02020603050405020304" pitchFamily="18" charset="0"/>
                <a:cs typeface="Times New Roman" panose="02020603050405020304" pitchFamily="18" charset="0"/>
              </a:rPr>
              <a:t>/files/download/{</a:t>
            </a:r>
            <a:r>
              <a:rPr lang="en-US" sz="2000" dirty="0" err="1">
                <a:latin typeface="Times New Roman" panose="02020603050405020304" pitchFamily="18" charset="0"/>
                <a:cs typeface="Times New Roman" panose="02020603050405020304" pitchFamily="18" charset="0"/>
              </a:rPr>
              <a:t>file_id</a:t>
            </a:r>
            <a:r>
              <a:rPr lang="en-US" sz="2000" dirty="0">
                <a:latin typeface="Times New Roman" panose="02020603050405020304" pitchFamily="18" charset="0"/>
                <a:cs typeface="Times New Roman" panose="02020603050405020304" pitchFamily="18" charset="0"/>
              </a:rPr>
              <a:t>} – blocks download if on-chain approval is not satisfied</a:t>
            </a:r>
          </a:p>
          <a:p>
            <a:pPr>
              <a:spcAft>
                <a:spcPts val="1200"/>
              </a:spcAft>
            </a:pPr>
            <a:endParaRPr lang="en-US" sz="2000" dirty="0">
              <a:latin typeface="Times New Roman" panose="02020603050405020304" pitchFamily="18" charset="0"/>
              <a:cs typeface="Times New Roman" panose="02020603050405020304" pitchFamily="18" charset="0"/>
            </a:endParaRPr>
          </a:p>
          <a:p>
            <a:pPr>
              <a:spcAft>
                <a:spcPts val="1200"/>
              </a:spcAft>
            </a:pPr>
            <a:endParaRPr lang="en-IN" sz="2000" dirty="0"/>
          </a:p>
          <a:p>
            <a:pPr>
              <a:spcAft>
                <a:spcPts val="1200"/>
              </a:spcAft>
            </a:pPr>
            <a:endParaRPr lang="en-IN" sz="2000" dirty="0"/>
          </a:p>
        </p:txBody>
      </p:sp>
      <p:pic>
        <p:nvPicPr>
          <p:cNvPr id="5" name="Picture 2" descr="D:\GITAM-GST-CSE\2024-25\Capstone-Project\GITAM-newlogo.jpeg">
            <a:extLst>
              <a:ext uri="{FF2B5EF4-FFF2-40B4-BE49-F238E27FC236}">
                <a16:creationId xmlns:a16="http://schemas.microsoft.com/office/drawing/2014/main" id="{7FBFEBFD-D378-295E-9F30-E7A069EF3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5463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3F68B100-FE08-2702-7C4D-AE848E2133B8}"/>
              </a:ext>
            </a:extLst>
          </p:cNvPr>
          <p:cNvSpPr>
            <a:spLocks noGrp="1"/>
          </p:cNvSpPr>
          <p:nvPr>
            <p:ph type="title"/>
          </p:nvPr>
        </p:nvSpPr>
        <p:spPr/>
        <p:txBody>
          <a:bodyPr/>
          <a:lstStyle/>
          <a:p>
            <a:r>
              <a:rPr lang="en-IN" altLang="en-US" b="1" dirty="0">
                <a:solidFill>
                  <a:srgbClr val="00B050"/>
                </a:solidFill>
                <a:latin typeface="Times New Roman" panose="02020603050405020304" pitchFamily="18" charset="0"/>
                <a:cs typeface="Times New Roman" panose="02020603050405020304" pitchFamily="18" charset="0"/>
              </a:rPr>
              <a:t>Conclusion</a:t>
            </a:r>
          </a:p>
        </p:txBody>
      </p:sp>
      <p:sp>
        <p:nvSpPr>
          <p:cNvPr id="20483" name="Slide Number Placeholder 3">
            <a:extLst>
              <a:ext uri="{FF2B5EF4-FFF2-40B4-BE49-F238E27FC236}">
                <a16:creationId xmlns:a16="http://schemas.microsoft.com/office/drawing/2014/main" id="{ADEF05BE-C5AF-223E-CC91-87F6907051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6822DC7-045D-458D-AD2D-2B96039BEEB2}" type="slidenum">
              <a:rPr lang="en-IN" altLang="en-US" sz="1200">
                <a:solidFill>
                  <a:srgbClr val="898989"/>
                </a:solidFill>
              </a:rPr>
              <a:pPr>
                <a:spcBef>
                  <a:spcPct val="0"/>
                </a:spcBef>
                <a:buFontTx/>
                <a:buNone/>
              </a:pPr>
              <a:t>18</a:t>
            </a:fld>
            <a:endParaRPr lang="en-IN" altLang="en-US" sz="1200">
              <a:solidFill>
                <a:srgbClr val="898989"/>
              </a:solidFill>
            </a:endParaRPr>
          </a:p>
        </p:txBody>
      </p:sp>
      <p:sp>
        <p:nvSpPr>
          <p:cNvPr id="20484" name="Rectangle 2">
            <a:extLst>
              <a:ext uri="{FF2B5EF4-FFF2-40B4-BE49-F238E27FC236}">
                <a16:creationId xmlns:a16="http://schemas.microsoft.com/office/drawing/2014/main" id="{65554C65-2A91-B4B3-4B40-1A49445C8EFB}"/>
              </a:ext>
            </a:extLst>
          </p:cNvPr>
          <p:cNvSpPr>
            <a:spLocks noChangeArrowheads="1"/>
          </p:cNvSpPr>
          <p:nvPr/>
        </p:nvSpPr>
        <p:spPr bwMode="auto">
          <a:xfrm>
            <a:off x="0" y="1557794"/>
            <a:ext cx="8602984" cy="439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The project successfully ensures </a:t>
            </a:r>
            <a:r>
              <a:rPr lang="en-US" sz="2000" b="1" dirty="0">
                <a:latin typeface="Times New Roman" panose="02020603050405020304" pitchFamily="18" charset="0"/>
                <a:cs typeface="Times New Roman" panose="02020603050405020304" pitchFamily="18" charset="0"/>
              </a:rPr>
              <a:t>confidentiality</a:t>
            </a:r>
            <a:r>
              <a:rPr lang="en-US" sz="2000" dirty="0">
                <a:latin typeface="Times New Roman" panose="02020603050405020304" pitchFamily="18" charset="0"/>
                <a:cs typeface="Times New Roman" panose="02020603050405020304" pitchFamily="18" charset="0"/>
              </a:rPr>
              <a:t> by encrypting every uploaded file using </a:t>
            </a:r>
            <a:r>
              <a:rPr lang="en-US" sz="2000" b="1" dirty="0">
                <a:latin typeface="Times New Roman" panose="02020603050405020304" pitchFamily="18" charset="0"/>
                <a:cs typeface="Times New Roman" panose="02020603050405020304" pitchFamily="18" charset="0"/>
              </a:rPr>
              <a:t>AES‑256</a:t>
            </a:r>
            <a:r>
              <a:rPr lang="en-US" sz="2000" dirty="0">
                <a:latin typeface="Times New Roman" panose="02020603050405020304" pitchFamily="18" charset="0"/>
                <a:cs typeface="Times New Roman" panose="02020603050405020304" pitchFamily="18" charset="0"/>
              </a:rPr>
              <a:t> before storage, keeping data protected at rest and during transfer.</a:t>
            </a:r>
          </a:p>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It provides </a:t>
            </a:r>
            <a:r>
              <a:rPr lang="en-US" sz="2000" b="1" dirty="0">
                <a:latin typeface="Times New Roman" panose="02020603050405020304" pitchFamily="18" charset="0"/>
                <a:cs typeface="Times New Roman" panose="02020603050405020304" pitchFamily="18" charset="0"/>
              </a:rPr>
              <a:t>fine‑grained access control</a:t>
            </a:r>
            <a:r>
              <a:rPr lang="en-US" sz="2000" dirty="0">
                <a:latin typeface="Times New Roman" panose="02020603050405020304" pitchFamily="18" charset="0"/>
                <a:cs typeface="Times New Roman" panose="02020603050405020304" pitchFamily="18" charset="0"/>
              </a:rPr>
              <a:t> using </a:t>
            </a:r>
            <a:r>
              <a:rPr lang="en-US" sz="2000" b="1" dirty="0">
                <a:latin typeface="Times New Roman" panose="02020603050405020304" pitchFamily="18" charset="0"/>
                <a:cs typeface="Times New Roman" panose="02020603050405020304" pitchFamily="18" charset="0"/>
              </a:rPr>
              <a:t>attribute‑based policies (AND/OR rules)</a:t>
            </a:r>
            <a:r>
              <a:rPr lang="en-US" sz="2000" dirty="0">
                <a:latin typeface="Times New Roman" panose="02020603050405020304" pitchFamily="18" charset="0"/>
                <a:cs typeface="Times New Roman" panose="02020603050405020304" pitchFamily="18" charset="0"/>
              </a:rPr>
              <a:t>, so only users whose </a:t>
            </a:r>
            <a:r>
              <a:rPr lang="en-US" sz="2000" b="1" dirty="0">
                <a:latin typeface="Times New Roman" panose="02020603050405020304" pitchFamily="18" charset="0"/>
                <a:cs typeface="Times New Roman" panose="02020603050405020304" pitchFamily="18" charset="0"/>
              </a:rPr>
              <a:t>role, dept, and clearance</a:t>
            </a:r>
            <a:r>
              <a:rPr lang="en-US" sz="2000" dirty="0">
                <a:latin typeface="Times New Roman" panose="02020603050405020304" pitchFamily="18" charset="0"/>
                <a:cs typeface="Times New Roman" panose="02020603050405020304" pitchFamily="18" charset="0"/>
              </a:rPr>
              <a:t> satisfy the policy can decrypt the file.</a:t>
            </a:r>
          </a:p>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It enforces </a:t>
            </a:r>
            <a:r>
              <a:rPr lang="en-US" sz="2000" b="1" dirty="0">
                <a:latin typeface="Times New Roman" panose="02020603050405020304" pitchFamily="18" charset="0"/>
                <a:cs typeface="Times New Roman" panose="02020603050405020304" pitchFamily="18" charset="0"/>
              </a:rPr>
              <a:t>decentralized control</a:t>
            </a:r>
            <a:r>
              <a:rPr lang="en-US" sz="2000" dirty="0">
                <a:latin typeface="Times New Roman" panose="02020603050405020304" pitchFamily="18" charset="0"/>
                <a:cs typeface="Times New Roman" panose="02020603050405020304" pitchFamily="18" charset="0"/>
              </a:rPr>
              <a:t> by requiring </a:t>
            </a:r>
            <a:r>
              <a:rPr lang="en-US" sz="2000" b="1" dirty="0">
                <a:latin typeface="Times New Roman" panose="02020603050405020304" pitchFamily="18" charset="0"/>
                <a:cs typeface="Times New Roman" panose="02020603050405020304" pitchFamily="18" charset="0"/>
              </a:rPr>
              <a:t>blockchain threshold approvals (4‑of‑7 authorities)</a:t>
            </a:r>
            <a:r>
              <a:rPr lang="en-US" sz="2000" dirty="0">
                <a:latin typeface="Times New Roman" panose="02020603050405020304" pitchFamily="18" charset="0"/>
                <a:cs typeface="Times New Roman" panose="02020603050405020304" pitchFamily="18" charset="0"/>
              </a:rPr>
              <a:t> before decryption, preventing any single party from granting access alone.</a:t>
            </a:r>
          </a:p>
        </p:txBody>
      </p:sp>
      <p:pic>
        <p:nvPicPr>
          <p:cNvPr id="2" name="Picture 2" descr="D:\GITAM-GST-CSE\2024-25\Capstone-Project\GITAM-newlogo.jpeg">
            <a:extLst>
              <a:ext uri="{FF2B5EF4-FFF2-40B4-BE49-F238E27FC236}">
                <a16:creationId xmlns:a16="http://schemas.microsoft.com/office/drawing/2014/main" id="{16109FC9-0B31-FE0C-D641-6FCC29A9E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13752"/>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D:\GITAM-GST-CSE\2024-25\Capstone-Project\GITAM-newlogo.jpeg">
            <a:extLst>
              <a:ext uri="{FF2B5EF4-FFF2-40B4-BE49-F238E27FC236}">
                <a16:creationId xmlns:a16="http://schemas.microsoft.com/office/drawing/2014/main" id="{9BF1CC42-8FB2-9DCF-1D14-A2FB42EA28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a:extLst>
              <a:ext uri="{FF2B5EF4-FFF2-40B4-BE49-F238E27FC236}">
                <a16:creationId xmlns:a16="http://schemas.microsoft.com/office/drawing/2014/main" id="{BF87694D-D2CA-EE2E-DE54-CF237A887E3B}"/>
              </a:ext>
            </a:extLst>
          </p:cNvPr>
          <p:cNvSpPr>
            <a:spLocks noChangeArrowheads="1"/>
          </p:cNvSpPr>
          <p:nvPr/>
        </p:nvSpPr>
        <p:spPr bwMode="auto">
          <a:xfrm>
            <a:off x="179388" y="873125"/>
            <a:ext cx="892968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en-IN" altLang="en-US" sz="2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Li, M., Yu, S., Zheng, Y., Ren, K., &amp; Lou, W. (2012). Scalable and secure sharing of personal health records in cloud computing using Attribute-Based Encryption. </a:t>
            </a:r>
            <a:r>
              <a:rPr lang="en-US" sz="2000" i="1" dirty="0">
                <a:latin typeface="Times New Roman" panose="02020603050405020304" pitchFamily="18" charset="0"/>
                <a:cs typeface="Times New Roman" panose="02020603050405020304" pitchFamily="18" charset="0"/>
              </a:rPr>
              <a:t>IEEE Transactions on Parallel and Distributed Systems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24</a:t>
            </a:r>
            <a:r>
              <a:rPr lang="en-US" sz="2000" dirty="0">
                <a:latin typeface="Times New Roman" panose="02020603050405020304" pitchFamily="18" charset="0"/>
                <a:cs typeface="Times New Roman" panose="02020603050405020304" pitchFamily="18" charset="0"/>
              </a:rPr>
              <a:t>(1), 131–143. https://doi.org/10.1109/tpds.2012.97</a:t>
            </a:r>
            <a:endParaRPr lang="en-IN" altLang="en-US" sz="1400" dirty="0">
              <a:latin typeface="Times New Roman" panose="02020603050405020304" pitchFamily="18" charset="0"/>
              <a:cs typeface="Times New Roman" panose="02020603050405020304" pitchFamily="18" charset="0"/>
            </a:endParaRPr>
          </a:p>
          <a:p>
            <a:pPr>
              <a:buNone/>
            </a:pPr>
            <a:r>
              <a:rPr lang="en-IN" altLang="en-US" sz="2000" dirty="0">
                <a:latin typeface="Times New Roman" panose="02020603050405020304" pitchFamily="18" charset="0"/>
                <a:cs typeface="Times New Roman" panose="02020603050405020304" pitchFamily="18" charset="0"/>
              </a:rPr>
              <a:t>[2] </a:t>
            </a:r>
            <a:r>
              <a:rPr lang="en-US" sz="2000" dirty="0" err="1"/>
              <a:t>Gajmal</a:t>
            </a:r>
            <a:r>
              <a:rPr lang="en-US" sz="2000" dirty="0"/>
              <a:t>, Y., More, P., Jagtap, A., &amp; Kale, K. (2024). Access control and data sharing mechanism in decentralized cloud using blockchain technology. </a:t>
            </a:r>
            <a:r>
              <a:rPr lang="en-US" sz="2000" i="1" dirty="0"/>
              <a:t>Journal of Autonomous Intelligence</a:t>
            </a:r>
            <a:r>
              <a:rPr lang="en-US" sz="2000" dirty="0"/>
              <a:t>, </a:t>
            </a:r>
            <a:r>
              <a:rPr lang="en-US" sz="2000" i="1" dirty="0"/>
              <a:t>7</a:t>
            </a:r>
            <a:r>
              <a:rPr lang="en-US" sz="2000" dirty="0"/>
              <a:t>(3). https://doi.org/10.32629/jai.v7i3.1332</a:t>
            </a:r>
          </a:p>
          <a:p>
            <a:pPr>
              <a:buNone/>
            </a:pPr>
            <a:r>
              <a:rPr lang="en-IN" altLang="en-US" sz="2000" dirty="0">
                <a:latin typeface="Times New Roman" panose="02020603050405020304" pitchFamily="18" charset="0"/>
                <a:cs typeface="Times New Roman" panose="02020603050405020304" pitchFamily="18" charset="0"/>
              </a:rPr>
              <a:t>[3] </a:t>
            </a:r>
            <a:r>
              <a:rPr lang="en-US" sz="2000" dirty="0"/>
              <a:t>Hwang, Y., Kim, S., Seo, D., &amp; Lee, I. (2022). An SKP-ABE scheme for secure and efficient data sharing in cloud environments. </a:t>
            </a:r>
            <a:r>
              <a:rPr lang="en-US" sz="2000" i="1" dirty="0"/>
              <a:t>Wireless Communications and Mobile Computing</a:t>
            </a:r>
            <a:r>
              <a:rPr lang="en-US" sz="2000" dirty="0"/>
              <a:t>, </a:t>
            </a:r>
            <a:r>
              <a:rPr lang="en-US" sz="2000" i="1" dirty="0"/>
              <a:t>2022</a:t>
            </a:r>
            <a:r>
              <a:rPr lang="en-US" sz="2000" dirty="0"/>
              <a:t>, 1–17. https://doi.org/10.1155/2022/1384405</a:t>
            </a:r>
          </a:p>
          <a:p>
            <a:pPr>
              <a:buNone/>
            </a:pPr>
            <a:r>
              <a:rPr lang="en-IN" altLang="en-US" sz="2000" dirty="0">
                <a:latin typeface="Times New Roman" panose="02020603050405020304" pitchFamily="18" charset="0"/>
                <a:cs typeface="Times New Roman" panose="02020603050405020304" pitchFamily="18" charset="0"/>
              </a:rPr>
              <a:t>[4] </a:t>
            </a:r>
            <a:r>
              <a:rPr lang="en-US" sz="2000" dirty="0" err="1"/>
              <a:t>Ghoubach</a:t>
            </a:r>
            <a:r>
              <a:rPr lang="en-US" sz="2000" dirty="0"/>
              <a:t>, I. E., </a:t>
            </a:r>
            <a:r>
              <a:rPr lang="en-US" sz="2000" dirty="0" err="1"/>
              <a:t>Benabbou</a:t>
            </a:r>
            <a:r>
              <a:rPr lang="en-US" sz="2000" dirty="0"/>
              <a:t>, R., &amp; </a:t>
            </a:r>
            <a:r>
              <a:rPr lang="en-US" sz="2000" dirty="0" err="1"/>
              <a:t>Mrabti</a:t>
            </a:r>
            <a:r>
              <a:rPr lang="en-US" sz="2000" dirty="0"/>
              <a:t>, F. (2016). FP2E: Flexible, effective and privacy preserving cloud data sharing scheme. </a:t>
            </a:r>
            <a:r>
              <a:rPr lang="en-US" sz="2000" i="1" dirty="0"/>
              <a:t>Cloud</a:t>
            </a:r>
            <a:r>
              <a:rPr lang="en-US" sz="2000" dirty="0"/>
              <a:t>, 7–12. https://doi.org/10.1109/cloudtech.2016.7847691</a:t>
            </a:r>
          </a:p>
          <a:p>
            <a:pPr>
              <a:buNone/>
            </a:pPr>
            <a:r>
              <a:rPr lang="en-US" altLang="en-US" sz="2000" dirty="0">
                <a:latin typeface="Times New Roman" panose="02020603050405020304" pitchFamily="18" charset="0"/>
                <a:cs typeface="Times New Roman" panose="02020603050405020304" pitchFamily="18" charset="0"/>
              </a:rPr>
              <a:t>[5] Zhao, M., Chen, H., Yao, Y. et al. Lattice-based ABE with multi-ciphertext equality test in cloud computing. J. King Saud Univ. </a:t>
            </a:r>
            <a:r>
              <a:rPr lang="en-US" altLang="en-US" sz="2000" dirty="0" err="1">
                <a:latin typeface="Times New Roman" panose="02020603050405020304" pitchFamily="18" charset="0"/>
                <a:cs typeface="Times New Roman" panose="02020603050405020304" pitchFamily="18" charset="0"/>
              </a:rPr>
              <a:t>Comput</a:t>
            </a:r>
            <a:r>
              <a:rPr lang="en-US" altLang="en-US" sz="2000" dirty="0">
                <a:latin typeface="Times New Roman" panose="02020603050405020304" pitchFamily="18" charset="0"/>
                <a:cs typeface="Times New Roman" panose="02020603050405020304" pitchFamily="18" charset="0"/>
              </a:rPr>
              <a:t>. Inf. Sci. 37, 38 (2025). https://doi.org/10.1007/s44443-025-00047-w </a:t>
            </a:r>
            <a:endParaRPr lang="en-IN" altLang="en-US" sz="2000" dirty="0">
              <a:latin typeface="Times New Roman" panose="02020603050405020304" pitchFamily="18" charset="0"/>
              <a:cs typeface="Times New Roman" panose="02020603050405020304" pitchFamily="18" charset="0"/>
            </a:endParaRPr>
          </a:p>
        </p:txBody>
      </p:sp>
      <p:sp>
        <p:nvSpPr>
          <p:cNvPr id="22532" name="Rectangle 3">
            <a:extLst>
              <a:ext uri="{FF2B5EF4-FFF2-40B4-BE49-F238E27FC236}">
                <a16:creationId xmlns:a16="http://schemas.microsoft.com/office/drawing/2014/main" id="{37AA3788-E093-F323-09EC-4CF3A945D543}"/>
              </a:ext>
            </a:extLst>
          </p:cNvPr>
          <p:cNvSpPr>
            <a:spLocks noChangeArrowheads="1"/>
          </p:cNvSpPr>
          <p:nvPr/>
        </p:nvSpPr>
        <p:spPr bwMode="auto">
          <a:xfrm>
            <a:off x="3711575" y="269875"/>
            <a:ext cx="1614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solidFill>
                  <a:srgbClr val="00B050"/>
                </a:solidFill>
                <a:latin typeface="Times New Roman" panose="02020603050405020304" pitchFamily="18" charset="0"/>
                <a:cs typeface="Times New Roman" panose="02020603050405020304" pitchFamily="18" charset="0"/>
              </a:rPr>
              <a:t>References</a:t>
            </a:r>
            <a:endParaRPr lang="en-IN" altLang="en-US" sz="2400" b="1" dirty="0">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11170</TotalTime>
  <Words>1675</Words>
  <Application>Microsoft Office PowerPoint</Application>
  <PresentationFormat>On-screen Show (4:3)</PresentationFormat>
  <Paragraphs>149</Paragraphs>
  <Slides>19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Times New Roman</vt:lpstr>
      <vt:lpstr>Wingdings</vt:lpstr>
      <vt:lpstr>1_Office Theme</vt:lpstr>
      <vt:lpstr>2_Office Theme</vt:lpstr>
      <vt:lpstr>Capstone Project – Final:  Review – 1 on Secure Data Sharing in Cloud Using Attribute-Based Encryption (ABE)</vt:lpstr>
      <vt:lpstr>CONTENTS</vt:lpstr>
      <vt:lpstr>Problem Statement</vt:lpstr>
      <vt:lpstr>Objectives</vt:lpstr>
      <vt:lpstr>Design Strategy</vt:lpstr>
      <vt:lpstr>Feedback from Guide/Reviewers and actions taken after Review–2</vt:lpstr>
      <vt:lpstr>PowerPoint Presentation</vt:lpstr>
      <vt:lpstr>Methodology</vt:lpstr>
      <vt:lpstr>Algorithm (s)</vt:lpstr>
      <vt:lpstr>PowerPoint Presentation</vt:lpstr>
      <vt:lpstr>Algorithm (s)</vt:lpstr>
      <vt:lpstr>Status of Implementation</vt:lpstr>
      <vt:lpstr>PowerPoint Presentation</vt:lpstr>
      <vt:lpstr>Status of Implementation</vt:lpstr>
      <vt:lpstr>PowerPoint Presentation</vt:lpstr>
      <vt:lpstr>Status of Implementation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Patan Ahammad sahid</cp:lastModifiedBy>
  <cp:revision>57</cp:revision>
  <dcterms:created xsi:type="dcterms:W3CDTF">2024-09-06T03:49:57Z</dcterms:created>
  <dcterms:modified xsi:type="dcterms:W3CDTF">2026-01-20T08:35:57Z</dcterms:modified>
</cp:coreProperties>
</file>